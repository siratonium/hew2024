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70" r:id="rId3"/>
    <p:sldId id="259" r:id="rId4"/>
    <p:sldId id="263" r:id="rId5"/>
    <p:sldId id="271" r:id="rId6"/>
    <p:sldId id="260" r:id="rId7"/>
    <p:sldId id="285" r:id="rId8"/>
    <p:sldId id="262" r:id="rId9"/>
    <p:sldId id="264" r:id="rId10"/>
    <p:sldId id="286" r:id="rId11"/>
    <p:sldId id="265" r:id="rId12"/>
    <p:sldId id="275" r:id="rId13"/>
    <p:sldId id="277" r:id="rId14"/>
    <p:sldId id="276" r:id="rId15"/>
    <p:sldId id="273" r:id="rId16"/>
    <p:sldId id="274" r:id="rId17"/>
    <p:sldId id="278" r:id="rId18"/>
    <p:sldId id="279" r:id="rId19"/>
    <p:sldId id="282" r:id="rId20"/>
    <p:sldId id="283" r:id="rId21"/>
    <p:sldId id="284" r:id="rId22"/>
    <p:sldId id="280" r:id="rId23"/>
    <p:sldId id="292" r:id="rId24"/>
    <p:sldId id="293" r:id="rId25"/>
    <p:sldId id="294" r:id="rId26"/>
    <p:sldId id="295" r:id="rId27"/>
    <p:sldId id="296" r:id="rId2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B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8B34B-4B6D-4CD3-8DE4-279333CB4AB8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F2DEEF-51BF-4B0F-B040-4029D54F3FC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286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EAF677-9ECD-C63C-6CBC-C966B2188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87BF534-E482-627F-5AA6-BDF891537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4C6614-453C-7531-4336-868315412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C4A5E6-27C7-E1EC-9CA7-4B43F8440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ADF940-A0FA-C02B-2723-F645FCCAE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2804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DD7DD5-0B97-15E9-FC5D-D44771A36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51D1D90-A711-591E-95D4-790F496FE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B2A2A79-079D-71B6-C932-EFEB0E1F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C02151F-B724-ADE7-CF10-088BD42C7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C69A2E-4C82-24D4-334A-7CA0BD9C6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2007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AA1703-CD8A-CA67-43EF-0EFAB3397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4B01F56-3BF8-11A5-4190-036B1C7AE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2F3F6A-A9A2-9441-70B1-18E05BD91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8020D0-7E09-BD1C-3D66-D5B92D9F6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E76AA9-F758-4855-5937-442B4A93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47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B79A52-81BD-0894-949D-716C7BEB9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41B5FF-0F5A-78D2-94A4-1BCEBDEB8B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689891F-C4C2-852F-56D2-0E2DEADA2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2627BF-8DFF-5EC7-1B0C-5853DD7ED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115D9B-ABBD-5EAD-04A5-9EB058E3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D96B6A-5612-9977-9FAA-D30A01A9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6494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8ECE4B-A645-7583-DE8F-90A1DA78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AF894E-3781-9496-F912-903CA6CC7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B472DF-CB2E-11D7-868E-7ED54C4B2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AC51D00-3DF3-A7BE-21E9-4A406CBC9E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3DF05A8-C018-D6D8-F173-665B2EB37B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94736DC-DEFB-5477-7B87-FB3E765B0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D33276-87B8-056F-641D-DBED17A6A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BC676EA-B794-98B5-A636-4E9C86007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831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453885-384A-1B1D-3BF9-87CCB99AE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8F0BCA2-AB82-F638-FF75-6C293BF97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CF0BA7F-7D6F-5BD9-1BB5-9AD0F7B55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211D20-B831-8710-A2C6-6A9F64CB1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1753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5FE2FE5-9883-7C50-ADF1-42D194C1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6DD4E51-6004-2845-789D-EFE08145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996F6E-F94B-7A17-A5DF-50ECC81B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14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8CFF30-46CD-1C14-0985-E05E8D448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79E641-298C-8BA9-ADA1-86661D9B2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99BAF10-1DF8-C491-437A-5A3998B22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9AEC70-1BC1-555C-8F51-84A8BD60C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EC2C676-CCF6-72B5-F035-019F4844A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EBE715C-818B-5816-499E-F3A3AE83B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421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57FDDB-2423-D06F-1DFB-B1276882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1CC7DBF-C29B-D100-D7C0-0FDA9CC7CF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0EA56C-B658-EFF4-D28E-CC60DF2D9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EE2C90-FCDA-A534-1D2A-5AE8679DA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979FCF9-28CD-3E38-61AF-079DD813A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5BE168-5DAD-AAE5-4AFE-5E2845D59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173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69B47C-4750-435B-C391-89D89E689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FF8590B-87ED-E753-7856-D00BF863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8C920A-AF5B-EC6C-5210-3FA4AFE0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613F525-179D-5AF6-3429-009691BAD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0A2543-DDBC-A933-842A-3CE9C529F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4380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B5AE785-C853-A93E-C7BF-8AD8ADAB6F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318BA4D-CDDB-945E-4B01-25F4FD813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CA6C5E-6B78-40FB-0724-EFB1D2DA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ED8FC-4DF1-4060-B8C0-58D0D5B19461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8CE3F5-7FEE-0F28-34E0-647B4D34F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4987E8-E000-FDD5-141F-DF14A22F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213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47817FC-7F29-C2B3-6AB8-BF2EA191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784F30-B646-E475-5DE3-E89091E85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804795-B8D3-21AF-D231-80E995FC4D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ED8FC-4DF1-4060-B8C0-58D0D5B19461}" type="datetimeFigureOut">
              <a:rPr kumimoji="1" lang="ja-JP" altLang="en-US" smtClean="0"/>
              <a:t>2024/9/10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72B996-6E00-9E00-2F24-B9A44BF6A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DB6AF9-8D30-E3F0-3FFF-A79BF65E0B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6B2C2-B071-4329-B6A3-42CA5CF9ECD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565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6.sv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531198-918E-AD6A-577D-11034C843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kumimoji="1" lang="ja-JP" altLang="en-US" dirty="0"/>
              <a:t>昔ながらの駄菓子屋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621D4C-DD90-937D-AED7-A1D120FA86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HAL</a:t>
            </a:r>
            <a:r>
              <a:rPr kumimoji="1" lang="ja-JP" altLang="en-US" dirty="0"/>
              <a:t>東京</a:t>
            </a:r>
            <a:r>
              <a:rPr kumimoji="1" lang="en-US" altLang="ja-JP" dirty="0"/>
              <a:t>4</a:t>
            </a:r>
            <a:r>
              <a:rPr kumimoji="1" lang="ja-JP" altLang="en-US" dirty="0"/>
              <a:t>年制</a:t>
            </a:r>
            <a:r>
              <a:rPr kumimoji="1" lang="en-US" altLang="ja-JP" dirty="0"/>
              <a:t>2</a:t>
            </a:r>
            <a:r>
              <a:rPr kumimoji="1" lang="ja-JP" altLang="en-US" dirty="0"/>
              <a:t>年</a:t>
            </a:r>
            <a:endParaRPr kumimoji="1" lang="en-US" altLang="ja-JP" dirty="0"/>
          </a:p>
          <a:p>
            <a:r>
              <a:rPr kumimoji="1" lang="ja-JP" altLang="en-US" dirty="0"/>
              <a:t>テルルグループ</a:t>
            </a:r>
            <a:endParaRPr kumimoji="1" lang="en-US" altLang="ja-JP" dirty="0"/>
          </a:p>
          <a:p>
            <a:r>
              <a:rPr kumimoji="1" lang="ja-JP" altLang="en-US" dirty="0"/>
              <a:t>敷島　中村</a:t>
            </a:r>
            <a:r>
              <a:rPr lang="ja-JP" altLang="en-US" dirty="0"/>
              <a:t>　大窪　河原井　小野　下地　吉岡　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56784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8054F9-148D-FAC3-0220-1E443DA71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28" y="312824"/>
            <a:ext cx="3782962" cy="866622"/>
          </a:xfrm>
        </p:spPr>
        <p:txBody>
          <a:bodyPr/>
          <a:lstStyle/>
          <a:p>
            <a:r>
              <a:rPr kumimoji="1" lang="ja-JP" altLang="en-US" dirty="0"/>
              <a:t>動画の流れ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958B855-1E1F-EC02-B567-692C4368E2A1}"/>
              </a:ext>
            </a:extLst>
          </p:cNvPr>
          <p:cNvSpPr txBox="1"/>
          <p:nvPr/>
        </p:nvSpPr>
        <p:spPr>
          <a:xfrm>
            <a:off x="4385188" y="1543557"/>
            <a:ext cx="4385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ja-JP" altLang="en-US" sz="2400" dirty="0"/>
              <a:t>テーマ</a:t>
            </a:r>
            <a:endParaRPr lang="en-US" altLang="ja-JP" sz="2400" dirty="0"/>
          </a:p>
          <a:p>
            <a:pPr lvl="1"/>
            <a:r>
              <a:rPr kumimoji="1" lang="ja-JP" altLang="en-US" sz="2400" dirty="0"/>
              <a:t>商品</a:t>
            </a:r>
            <a:endParaRPr kumimoji="1" lang="en-US" altLang="ja-JP" sz="2400" dirty="0"/>
          </a:p>
          <a:p>
            <a:pPr lvl="1"/>
            <a:r>
              <a:rPr lang="ja-JP" altLang="en-US" sz="2400" dirty="0"/>
              <a:t>理由</a:t>
            </a:r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DB2448E-F39D-FA69-3215-719D5D0DFA3E}"/>
              </a:ext>
            </a:extLst>
          </p:cNvPr>
          <p:cNvSpPr txBox="1"/>
          <p:nvPr/>
        </p:nvSpPr>
        <p:spPr>
          <a:xfrm>
            <a:off x="1455174" y="1543557"/>
            <a:ext cx="111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企画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933E4A8-D6F8-D98F-27D0-40B8FDD225ED}"/>
              </a:ext>
            </a:extLst>
          </p:cNvPr>
          <p:cNvSpPr txBox="1"/>
          <p:nvPr/>
        </p:nvSpPr>
        <p:spPr>
          <a:xfrm>
            <a:off x="1455174" y="3297510"/>
            <a:ext cx="2595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企画概要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38B4C3-E80D-4A43-58AD-425E5E7EAD46}"/>
              </a:ext>
            </a:extLst>
          </p:cNvPr>
          <p:cNvSpPr txBox="1"/>
          <p:nvPr/>
        </p:nvSpPr>
        <p:spPr>
          <a:xfrm>
            <a:off x="4841159" y="3297510"/>
            <a:ext cx="26940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ターゲット</a:t>
            </a:r>
            <a:endParaRPr kumimoji="1" lang="en-US" altLang="ja-JP" sz="2800" dirty="0"/>
          </a:p>
          <a:p>
            <a:r>
              <a:rPr lang="ja-JP" altLang="en-US" sz="2800" dirty="0"/>
              <a:t>特徴</a:t>
            </a:r>
            <a:endParaRPr kumimoji="1" lang="ja-JP" altLang="en-US" sz="28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FDF738F-60C2-76E1-7F9A-4EC68389E75B}"/>
              </a:ext>
            </a:extLst>
          </p:cNvPr>
          <p:cNvSpPr txBox="1"/>
          <p:nvPr/>
        </p:nvSpPr>
        <p:spPr>
          <a:xfrm>
            <a:off x="1455174" y="5051463"/>
            <a:ext cx="2595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モックアップ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5F9A432-4E41-268A-57C9-1E5F7C3D1E7F}"/>
              </a:ext>
            </a:extLst>
          </p:cNvPr>
          <p:cNvSpPr txBox="1"/>
          <p:nvPr/>
        </p:nvSpPr>
        <p:spPr>
          <a:xfrm>
            <a:off x="4841159" y="5051463"/>
            <a:ext cx="37829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購入までの流れ</a:t>
            </a:r>
            <a:endParaRPr kumimoji="1" lang="ja-JP" altLang="en-US" sz="2800" dirty="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F3260591-C834-CDDD-812C-7E44DA5F4F84}"/>
              </a:ext>
            </a:extLst>
          </p:cNvPr>
          <p:cNvSpPr/>
          <p:nvPr/>
        </p:nvSpPr>
        <p:spPr>
          <a:xfrm>
            <a:off x="4675235" y="167158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A599B16D-7824-3DAA-0315-7C0ACA155A8C}"/>
              </a:ext>
            </a:extLst>
          </p:cNvPr>
          <p:cNvSpPr/>
          <p:nvPr/>
        </p:nvSpPr>
        <p:spPr>
          <a:xfrm>
            <a:off x="4675235" y="2062309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134D7C57-871D-3B2A-CCF3-E938D6C25B7F}"/>
              </a:ext>
            </a:extLst>
          </p:cNvPr>
          <p:cNvSpPr/>
          <p:nvPr/>
        </p:nvSpPr>
        <p:spPr>
          <a:xfrm>
            <a:off x="4685070" y="2432439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343F85E-5778-24B0-846F-671B2AFC685C}"/>
              </a:ext>
            </a:extLst>
          </p:cNvPr>
          <p:cNvSpPr/>
          <p:nvPr/>
        </p:nvSpPr>
        <p:spPr>
          <a:xfrm>
            <a:off x="4685070" y="351753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D60AA6FC-9DEB-9D3D-AADA-67A80102483A}"/>
              </a:ext>
            </a:extLst>
          </p:cNvPr>
          <p:cNvSpPr/>
          <p:nvPr/>
        </p:nvSpPr>
        <p:spPr>
          <a:xfrm>
            <a:off x="4667251" y="3920990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DB987761-1FD2-2313-277E-57B6A56BC5D7}"/>
              </a:ext>
            </a:extLst>
          </p:cNvPr>
          <p:cNvSpPr/>
          <p:nvPr/>
        </p:nvSpPr>
        <p:spPr>
          <a:xfrm>
            <a:off x="4685071" y="520455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803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C19C32-BFA5-2E2B-6CB5-EBE37BB96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963" y="2850573"/>
            <a:ext cx="9418074" cy="1156853"/>
          </a:xfrm>
        </p:spPr>
        <p:txBody>
          <a:bodyPr>
            <a:noAutofit/>
          </a:bodyPr>
          <a:lstStyle/>
          <a:p>
            <a:r>
              <a:rPr lang="ja-JP" altLang="en-US" sz="4800" dirty="0"/>
              <a:t>駄菓子、食べたことありますか？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126242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70014D-59AD-30D3-A5AC-891C0437F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041" y="229921"/>
            <a:ext cx="3690477" cy="1022733"/>
          </a:xfrm>
        </p:spPr>
        <p:txBody>
          <a:bodyPr/>
          <a:lstStyle/>
          <a:p>
            <a:r>
              <a:rPr kumimoji="1" lang="ja-JP" altLang="en-US" dirty="0"/>
              <a:t>駄菓子の需要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010D55D8-DA0B-80B4-9BA1-8EA4F065EE5B}"/>
              </a:ext>
            </a:extLst>
          </p:cNvPr>
          <p:cNvGrpSpPr>
            <a:grpSpLocks/>
          </p:cNvGrpSpPr>
          <p:nvPr/>
        </p:nvGrpSpPr>
        <p:grpSpPr>
          <a:xfrm>
            <a:off x="1132866" y="2298191"/>
            <a:ext cx="5273675" cy="923925"/>
            <a:chOff x="1838325" y="1323975"/>
            <a:chExt cx="6496050" cy="1219200"/>
          </a:xfrm>
        </p:grpSpPr>
        <p:pic>
          <p:nvPicPr>
            <p:cNvPr id="5" name="図 4" descr="テーブル">
              <a:extLst>
                <a:ext uri="{FF2B5EF4-FFF2-40B4-BE49-F238E27FC236}">
                  <a16:creationId xmlns:a16="http://schemas.microsoft.com/office/drawing/2014/main" id="{DFC6FD67-E252-C2A3-7767-F30527D87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8325" y="1323975"/>
              <a:ext cx="6496050" cy="12192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B16A5051-3828-3207-1622-57809B2526C6}"/>
                </a:ext>
              </a:extLst>
            </p:cNvPr>
            <p:cNvSpPr>
              <a:spLocks/>
            </p:cNvSpPr>
            <p:nvPr/>
          </p:nvSpPr>
          <p:spPr>
            <a:xfrm>
              <a:off x="2647950" y="2101850"/>
              <a:ext cx="5645150" cy="2095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CFE7A500-BB0C-049C-71F7-E902664A3513}"/>
              </a:ext>
            </a:extLst>
          </p:cNvPr>
          <p:cNvGrpSpPr/>
          <p:nvPr/>
        </p:nvGrpSpPr>
        <p:grpSpPr>
          <a:xfrm>
            <a:off x="7731387" y="1969343"/>
            <a:ext cx="3454503" cy="2984117"/>
            <a:chOff x="6961694" y="1690688"/>
            <a:chExt cx="3454503" cy="2984117"/>
          </a:xfrm>
        </p:grpSpPr>
        <p:pic>
          <p:nvPicPr>
            <p:cNvPr id="9" name="図 8" descr="テーブル">
              <a:extLst>
                <a:ext uri="{FF2B5EF4-FFF2-40B4-BE49-F238E27FC236}">
                  <a16:creationId xmlns:a16="http://schemas.microsoft.com/office/drawing/2014/main" id="{01CCF520-1898-9B63-3591-6E22FF1A8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1694" y="1690688"/>
              <a:ext cx="1433006" cy="2984117"/>
            </a:xfrm>
            <a:prstGeom prst="rect">
              <a:avLst/>
            </a:prstGeom>
          </p:spPr>
        </p:pic>
        <p:pic>
          <p:nvPicPr>
            <p:cNvPr id="11" name="図 10" descr="テーブル&#10;&#10;中程度の精度で自動的に生成された説明">
              <a:extLst>
                <a:ext uri="{FF2B5EF4-FFF2-40B4-BE49-F238E27FC236}">
                  <a16:creationId xmlns:a16="http://schemas.microsoft.com/office/drawing/2014/main" id="{561946CA-BAA6-933E-FDA8-55011CE8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77160" y="1690688"/>
              <a:ext cx="1639037" cy="2984117"/>
            </a:xfrm>
            <a:prstGeom prst="rect">
              <a:avLst/>
            </a:prstGeom>
          </p:spPr>
        </p:pic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E9DA640C-7C34-1A02-A40A-B4A6475ECFE4}"/>
                </a:ext>
              </a:extLst>
            </p:cNvPr>
            <p:cNvSpPr/>
            <p:nvPr/>
          </p:nvSpPr>
          <p:spPr>
            <a:xfrm>
              <a:off x="7329488" y="3462338"/>
              <a:ext cx="1065212" cy="1143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D190376F-6E57-0F74-5AE0-CB70C45BB0BA}"/>
                </a:ext>
              </a:extLst>
            </p:cNvPr>
            <p:cNvSpPr/>
            <p:nvPr/>
          </p:nvSpPr>
          <p:spPr>
            <a:xfrm>
              <a:off x="7312215" y="4213417"/>
              <a:ext cx="1065212" cy="1143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411596B-E9B0-8F3F-C504-BCAB87576DAE}"/>
              </a:ext>
            </a:extLst>
          </p:cNvPr>
          <p:cNvSpPr txBox="1"/>
          <p:nvPr/>
        </p:nvSpPr>
        <p:spPr>
          <a:xfrm>
            <a:off x="1077012" y="3266910"/>
            <a:ext cx="26842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令和</a:t>
            </a:r>
            <a:r>
              <a:rPr kumimoji="1" lang="en-US" altLang="ja-JP" sz="1000" dirty="0"/>
              <a:t>3</a:t>
            </a:r>
            <a:r>
              <a:rPr kumimoji="1" lang="ja-JP" altLang="en-US" sz="1000" dirty="0"/>
              <a:t>～</a:t>
            </a:r>
            <a:r>
              <a:rPr kumimoji="1" lang="en-US" altLang="ja-JP" sz="1000" dirty="0"/>
              <a:t>5</a:t>
            </a:r>
            <a:r>
              <a:rPr kumimoji="1" lang="ja-JP" altLang="en-US" sz="1000" dirty="0"/>
              <a:t>年　菓子生産量及び菓子生産金額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F9798D2-B8D2-D77E-4526-03773C28B9F8}"/>
              </a:ext>
            </a:extLst>
          </p:cNvPr>
          <p:cNvSpPr txBox="1"/>
          <p:nvPr/>
        </p:nvSpPr>
        <p:spPr>
          <a:xfrm>
            <a:off x="7731387" y="4977314"/>
            <a:ext cx="2798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図</a:t>
            </a:r>
            <a:r>
              <a:rPr kumimoji="1" lang="en-US" altLang="ja-JP" sz="1000" dirty="0"/>
              <a:t>2</a:t>
            </a:r>
            <a:r>
              <a:rPr kumimoji="1" lang="ja-JP" altLang="en-US" sz="1000" dirty="0"/>
              <a:t>　令和</a:t>
            </a:r>
            <a:r>
              <a:rPr kumimoji="1" lang="en-US" altLang="ja-JP" sz="1000" dirty="0"/>
              <a:t>5</a:t>
            </a:r>
            <a:r>
              <a:rPr kumimoji="1" lang="ja-JP" altLang="en-US" sz="1000" dirty="0"/>
              <a:t>年　世帯月別菓子支出額</a:t>
            </a:r>
            <a:endParaRPr kumimoji="1" lang="en-US" altLang="ja-JP" sz="1000" dirty="0"/>
          </a:p>
          <a:p>
            <a:r>
              <a:rPr kumimoji="1" lang="ja-JP" altLang="en-US" sz="1000" dirty="0"/>
              <a:t>図</a:t>
            </a:r>
            <a:r>
              <a:rPr lang="en-US" altLang="ja-JP" sz="1000" dirty="0"/>
              <a:t>3</a:t>
            </a:r>
            <a:r>
              <a:rPr kumimoji="1" lang="ja-JP" altLang="en-US" sz="1000" dirty="0"/>
              <a:t>　令和</a:t>
            </a:r>
            <a:r>
              <a:rPr kumimoji="1" lang="en-US" altLang="ja-JP" sz="1000" dirty="0"/>
              <a:t>5</a:t>
            </a:r>
            <a:r>
              <a:rPr kumimoji="1" lang="ja-JP" altLang="en-US" sz="1000" dirty="0"/>
              <a:t>年　世帯月別菓子支出額</a:t>
            </a:r>
            <a:r>
              <a:rPr lang="ja-JP" altLang="en-US" sz="1000" dirty="0"/>
              <a:t>増減率</a:t>
            </a:r>
            <a:endParaRPr kumimoji="1" lang="en-US" altLang="ja-JP" sz="10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03E4809-6DF0-25E8-395F-DC68F55322EC}"/>
              </a:ext>
            </a:extLst>
          </p:cNvPr>
          <p:cNvSpPr txBox="1"/>
          <p:nvPr/>
        </p:nvSpPr>
        <p:spPr>
          <a:xfrm>
            <a:off x="1077012" y="2051970"/>
            <a:ext cx="451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図</a:t>
            </a:r>
            <a:r>
              <a:rPr kumimoji="1" lang="en-US" altLang="ja-JP" sz="1000" dirty="0"/>
              <a:t>1</a:t>
            </a:r>
            <a:endParaRPr kumimoji="1" lang="ja-JP" altLang="en-US" sz="10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EAE67DD-12DC-A04C-D26C-6A65BD144D6C}"/>
              </a:ext>
            </a:extLst>
          </p:cNvPr>
          <p:cNvSpPr txBox="1"/>
          <p:nvPr/>
        </p:nvSpPr>
        <p:spPr>
          <a:xfrm>
            <a:off x="9476063" y="1757575"/>
            <a:ext cx="451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図</a:t>
            </a:r>
            <a:r>
              <a:rPr lang="en-US" altLang="ja-JP" sz="1000" dirty="0"/>
              <a:t>3</a:t>
            </a:r>
            <a:endParaRPr kumimoji="1" lang="ja-JP" altLang="en-US" sz="10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56FADBE-5155-DAA4-7DE6-C563EB601CFE}"/>
              </a:ext>
            </a:extLst>
          </p:cNvPr>
          <p:cNvSpPr txBox="1"/>
          <p:nvPr/>
        </p:nvSpPr>
        <p:spPr>
          <a:xfrm>
            <a:off x="7647823" y="1766419"/>
            <a:ext cx="451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図</a:t>
            </a:r>
            <a:r>
              <a:rPr lang="en-US" altLang="ja-JP" sz="1000" dirty="0"/>
              <a:t>2</a:t>
            </a:r>
            <a:endParaRPr kumimoji="1" lang="ja-JP" altLang="en-US" sz="1000" dirty="0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E2CAAA0F-8EFD-2740-A779-4661EF0795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9" t="5164" b="1649"/>
          <a:stretch/>
        </p:blipFill>
        <p:spPr>
          <a:xfrm>
            <a:off x="1132866" y="4519915"/>
            <a:ext cx="5556993" cy="56174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EE50D00-1A8A-6FD6-D296-A76F0C6B53FF}"/>
              </a:ext>
            </a:extLst>
          </p:cNvPr>
          <p:cNvSpPr>
            <a:spLocks/>
          </p:cNvSpPr>
          <p:nvPr/>
        </p:nvSpPr>
        <p:spPr>
          <a:xfrm>
            <a:off x="1787601" y="4901792"/>
            <a:ext cx="4902258" cy="165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BC672B8-B497-1048-3741-256F1A367E9C}"/>
              </a:ext>
            </a:extLst>
          </p:cNvPr>
          <p:cNvSpPr txBox="1"/>
          <p:nvPr/>
        </p:nvSpPr>
        <p:spPr>
          <a:xfrm>
            <a:off x="1077012" y="4283300"/>
            <a:ext cx="451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図</a:t>
            </a:r>
            <a:r>
              <a:rPr lang="en-US" altLang="ja-JP" sz="1000" dirty="0"/>
              <a:t>4</a:t>
            </a:r>
            <a:endParaRPr kumimoji="1" lang="ja-JP" altLang="en-US" sz="10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AD69F54-80E4-1679-AA6A-BDB325783F87}"/>
              </a:ext>
            </a:extLst>
          </p:cNvPr>
          <p:cNvSpPr txBox="1"/>
          <p:nvPr/>
        </p:nvSpPr>
        <p:spPr>
          <a:xfrm>
            <a:off x="1077012" y="5131203"/>
            <a:ext cx="22626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令和</a:t>
            </a:r>
            <a:r>
              <a:rPr kumimoji="1" lang="en-US" altLang="ja-JP" sz="1000" dirty="0"/>
              <a:t>3</a:t>
            </a:r>
            <a:r>
              <a:rPr kumimoji="1" lang="ja-JP" altLang="en-US" sz="1000" dirty="0"/>
              <a:t>～</a:t>
            </a:r>
            <a:r>
              <a:rPr kumimoji="1" lang="en-US" altLang="ja-JP" sz="1000" dirty="0"/>
              <a:t>5</a:t>
            </a:r>
            <a:r>
              <a:rPr kumimoji="1" lang="ja-JP" altLang="en-US" sz="1000" dirty="0"/>
              <a:t>年　菓子輸出通関実績推移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A90F9DF-7F70-6250-F7DA-02BD4B1918DD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楕円 7">
            <a:extLst>
              <a:ext uri="{FF2B5EF4-FFF2-40B4-BE49-F238E27FC236}">
                <a16:creationId xmlns:a16="http://schemas.microsoft.com/office/drawing/2014/main" id="{E1203024-7FC5-62F0-2F77-833F754D639A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D6B8D87-7672-5996-B8E3-0DA9F34F2981}"/>
              </a:ext>
            </a:extLst>
          </p:cNvPr>
          <p:cNvSpPr txBox="1"/>
          <p:nvPr/>
        </p:nvSpPr>
        <p:spPr>
          <a:xfrm>
            <a:off x="910219" y="1586230"/>
            <a:ext cx="269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駄菓子生産量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9DBDD38-9EAE-3C29-530C-DCDA3845AC87}"/>
              </a:ext>
            </a:extLst>
          </p:cNvPr>
          <p:cNvSpPr txBox="1"/>
          <p:nvPr/>
        </p:nvSpPr>
        <p:spPr>
          <a:xfrm>
            <a:off x="907186" y="3769686"/>
            <a:ext cx="3698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国外への輸出量</a:t>
            </a: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21C2BC2-91CD-B0D7-122C-3FC2414E8B2C}"/>
              </a:ext>
            </a:extLst>
          </p:cNvPr>
          <p:cNvSpPr/>
          <p:nvPr/>
        </p:nvSpPr>
        <p:spPr>
          <a:xfrm>
            <a:off x="779368" y="1763827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60C382B0-75E8-B7D1-F095-D99180470DF0}"/>
              </a:ext>
            </a:extLst>
          </p:cNvPr>
          <p:cNvSpPr/>
          <p:nvPr/>
        </p:nvSpPr>
        <p:spPr>
          <a:xfrm>
            <a:off x="779367" y="38970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8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70014D-59AD-30D3-A5AC-891C0437F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041" y="229921"/>
            <a:ext cx="3690477" cy="1022733"/>
          </a:xfrm>
        </p:spPr>
        <p:txBody>
          <a:bodyPr/>
          <a:lstStyle/>
          <a:p>
            <a:r>
              <a:rPr kumimoji="1" lang="ja-JP" altLang="en-US" dirty="0"/>
              <a:t>駄菓子の需要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010D55D8-DA0B-80B4-9BA1-8EA4F065EE5B}"/>
              </a:ext>
            </a:extLst>
          </p:cNvPr>
          <p:cNvGrpSpPr>
            <a:grpSpLocks/>
          </p:cNvGrpSpPr>
          <p:nvPr/>
        </p:nvGrpSpPr>
        <p:grpSpPr>
          <a:xfrm>
            <a:off x="1132866" y="2298191"/>
            <a:ext cx="5273675" cy="923925"/>
            <a:chOff x="1838325" y="1323975"/>
            <a:chExt cx="6496050" cy="1219200"/>
          </a:xfrm>
        </p:grpSpPr>
        <p:pic>
          <p:nvPicPr>
            <p:cNvPr id="5" name="図 4" descr="テーブル">
              <a:extLst>
                <a:ext uri="{FF2B5EF4-FFF2-40B4-BE49-F238E27FC236}">
                  <a16:creationId xmlns:a16="http://schemas.microsoft.com/office/drawing/2014/main" id="{DFC6FD67-E252-C2A3-7767-F30527D87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8325" y="1323975"/>
              <a:ext cx="6496050" cy="1219200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B16A5051-3828-3207-1622-57809B2526C6}"/>
                </a:ext>
              </a:extLst>
            </p:cNvPr>
            <p:cNvSpPr>
              <a:spLocks/>
            </p:cNvSpPr>
            <p:nvPr/>
          </p:nvSpPr>
          <p:spPr>
            <a:xfrm>
              <a:off x="2647950" y="2101850"/>
              <a:ext cx="5645150" cy="2095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CFE7A500-BB0C-049C-71F7-E902664A3513}"/>
              </a:ext>
            </a:extLst>
          </p:cNvPr>
          <p:cNvGrpSpPr/>
          <p:nvPr/>
        </p:nvGrpSpPr>
        <p:grpSpPr>
          <a:xfrm>
            <a:off x="7731387" y="1969343"/>
            <a:ext cx="3454503" cy="2984117"/>
            <a:chOff x="6961694" y="1690688"/>
            <a:chExt cx="3454503" cy="2984117"/>
          </a:xfrm>
        </p:grpSpPr>
        <p:pic>
          <p:nvPicPr>
            <p:cNvPr id="9" name="図 8" descr="テーブル">
              <a:extLst>
                <a:ext uri="{FF2B5EF4-FFF2-40B4-BE49-F238E27FC236}">
                  <a16:creationId xmlns:a16="http://schemas.microsoft.com/office/drawing/2014/main" id="{01CCF520-1898-9B63-3591-6E22FF1A8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1694" y="1690688"/>
              <a:ext cx="1433006" cy="2984117"/>
            </a:xfrm>
            <a:prstGeom prst="rect">
              <a:avLst/>
            </a:prstGeom>
          </p:spPr>
        </p:pic>
        <p:pic>
          <p:nvPicPr>
            <p:cNvPr id="11" name="図 10" descr="テーブル&#10;&#10;中程度の精度で自動的に生成された説明">
              <a:extLst>
                <a:ext uri="{FF2B5EF4-FFF2-40B4-BE49-F238E27FC236}">
                  <a16:creationId xmlns:a16="http://schemas.microsoft.com/office/drawing/2014/main" id="{561946CA-BAA6-933E-FDA8-55011CE8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77160" y="1690688"/>
              <a:ext cx="1639037" cy="2984117"/>
            </a:xfrm>
            <a:prstGeom prst="rect">
              <a:avLst/>
            </a:prstGeom>
          </p:spPr>
        </p:pic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E9DA640C-7C34-1A02-A40A-B4A6475ECFE4}"/>
                </a:ext>
              </a:extLst>
            </p:cNvPr>
            <p:cNvSpPr/>
            <p:nvPr/>
          </p:nvSpPr>
          <p:spPr>
            <a:xfrm>
              <a:off x="7329488" y="3462338"/>
              <a:ext cx="1065212" cy="1143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D190376F-6E57-0F74-5AE0-CB70C45BB0BA}"/>
                </a:ext>
              </a:extLst>
            </p:cNvPr>
            <p:cNvSpPr/>
            <p:nvPr/>
          </p:nvSpPr>
          <p:spPr>
            <a:xfrm>
              <a:off x="7312215" y="4213417"/>
              <a:ext cx="1065212" cy="1143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411596B-E9B0-8F3F-C504-BCAB87576DAE}"/>
              </a:ext>
            </a:extLst>
          </p:cNvPr>
          <p:cNvSpPr txBox="1"/>
          <p:nvPr/>
        </p:nvSpPr>
        <p:spPr>
          <a:xfrm>
            <a:off x="1077012" y="3266910"/>
            <a:ext cx="26842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令和</a:t>
            </a:r>
            <a:r>
              <a:rPr kumimoji="1" lang="en-US" altLang="ja-JP" sz="1000" dirty="0"/>
              <a:t>3</a:t>
            </a:r>
            <a:r>
              <a:rPr kumimoji="1" lang="ja-JP" altLang="en-US" sz="1000" dirty="0"/>
              <a:t>～</a:t>
            </a:r>
            <a:r>
              <a:rPr kumimoji="1" lang="en-US" altLang="ja-JP" sz="1000" dirty="0"/>
              <a:t>5</a:t>
            </a:r>
            <a:r>
              <a:rPr kumimoji="1" lang="ja-JP" altLang="en-US" sz="1000" dirty="0"/>
              <a:t>年　菓子生産量及び菓子生産金額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F9798D2-B8D2-D77E-4526-03773C28B9F8}"/>
              </a:ext>
            </a:extLst>
          </p:cNvPr>
          <p:cNvSpPr txBox="1"/>
          <p:nvPr/>
        </p:nvSpPr>
        <p:spPr>
          <a:xfrm>
            <a:off x="7731387" y="4977314"/>
            <a:ext cx="2798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図</a:t>
            </a:r>
            <a:r>
              <a:rPr kumimoji="1" lang="en-US" altLang="ja-JP" sz="1000" dirty="0"/>
              <a:t>2</a:t>
            </a:r>
            <a:r>
              <a:rPr kumimoji="1" lang="ja-JP" altLang="en-US" sz="1000" dirty="0"/>
              <a:t>　令和</a:t>
            </a:r>
            <a:r>
              <a:rPr kumimoji="1" lang="en-US" altLang="ja-JP" sz="1000" dirty="0"/>
              <a:t>5</a:t>
            </a:r>
            <a:r>
              <a:rPr kumimoji="1" lang="ja-JP" altLang="en-US" sz="1000" dirty="0"/>
              <a:t>年　世帯月別菓子支出額</a:t>
            </a:r>
            <a:endParaRPr kumimoji="1" lang="en-US" altLang="ja-JP" sz="1000" dirty="0"/>
          </a:p>
          <a:p>
            <a:r>
              <a:rPr kumimoji="1" lang="ja-JP" altLang="en-US" sz="1000" dirty="0"/>
              <a:t>図</a:t>
            </a:r>
            <a:r>
              <a:rPr lang="en-US" altLang="ja-JP" sz="1000" dirty="0"/>
              <a:t>3</a:t>
            </a:r>
            <a:r>
              <a:rPr kumimoji="1" lang="ja-JP" altLang="en-US" sz="1000" dirty="0"/>
              <a:t>　令和</a:t>
            </a:r>
            <a:r>
              <a:rPr kumimoji="1" lang="en-US" altLang="ja-JP" sz="1000" dirty="0"/>
              <a:t>5</a:t>
            </a:r>
            <a:r>
              <a:rPr kumimoji="1" lang="ja-JP" altLang="en-US" sz="1000" dirty="0"/>
              <a:t>年　世帯月別菓子支出額</a:t>
            </a:r>
            <a:r>
              <a:rPr lang="ja-JP" altLang="en-US" sz="1000" dirty="0"/>
              <a:t>増減率</a:t>
            </a:r>
            <a:endParaRPr kumimoji="1" lang="en-US" altLang="ja-JP" sz="10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03E4809-6DF0-25E8-395F-DC68F55322EC}"/>
              </a:ext>
            </a:extLst>
          </p:cNvPr>
          <p:cNvSpPr txBox="1"/>
          <p:nvPr/>
        </p:nvSpPr>
        <p:spPr>
          <a:xfrm>
            <a:off x="1077012" y="2051970"/>
            <a:ext cx="451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図</a:t>
            </a:r>
            <a:r>
              <a:rPr kumimoji="1" lang="en-US" altLang="ja-JP" sz="1000" dirty="0"/>
              <a:t>1</a:t>
            </a:r>
            <a:endParaRPr kumimoji="1" lang="ja-JP" altLang="en-US" sz="10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EAE67DD-12DC-A04C-D26C-6A65BD144D6C}"/>
              </a:ext>
            </a:extLst>
          </p:cNvPr>
          <p:cNvSpPr txBox="1"/>
          <p:nvPr/>
        </p:nvSpPr>
        <p:spPr>
          <a:xfrm>
            <a:off x="9476063" y="1757575"/>
            <a:ext cx="451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図</a:t>
            </a:r>
            <a:r>
              <a:rPr lang="en-US" altLang="ja-JP" sz="1000" dirty="0"/>
              <a:t>3</a:t>
            </a:r>
            <a:endParaRPr kumimoji="1" lang="ja-JP" altLang="en-US" sz="10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56FADBE-5155-DAA4-7DE6-C563EB601CFE}"/>
              </a:ext>
            </a:extLst>
          </p:cNvPr>
          <p:cNvSpPr txBox="1"/>
          <p:nvPr/>
        </p:nvSpPr>
        <p:spPr>
          <a:xfrm>
            <a:off x="7647823" y="1766419"/>
            <a:ext cx="451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図</a:t>
            </a:r>
            <a:r>
              <a:rPr lang="en-US" altLang="ja-JP" sz="1000" dirty="0"/>
              <a:t>2</a:t>
            </a:r>
            <a:endParaRPr kumimoji="1" lang="ja-JP" altLang="en-US" sz="1000" dirty="0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E2CAAA0F-8EFD-2740-A779-4661EF0795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9" t="5164" b="1649"/>
          <a:stretch/>
        </p:blipFill>
        <p:spPr>
          <a:xfrm>
            <a:off x="1132866" y="4519915"/>
            <a:ext cx="5556993" cy="56174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EE50D00-1A8A-6FD6-D296-A76F0C6B53FF}"/>
              </a:ext>
            </a:extLst>
          </p:cNvPr>
          <p:cNvSpPr>
            <a:spLocks/>
          </p:cNvSpPr>
          <p:nvPr/>
        </p:nvSpPr>
        <p:spPr>
          <a:xfrm>
            <a:off x="1787601" y="4901792"/>
            <a:ext cx="4902258" cy="165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BC672B8-B497-1048-3741-256F1A367E9C}"/>
              </a:ext>
            </a:extLst>
          </p:cNvPr>
          <p:cNvSpPr txBox="1"/>
          <p:nvPr/>
        </p:nvSpPr>
        <p:spPr>
          <a:xfrm>
            <a:off x="1077012" y="4283300"/>
            <a:ext cx="4513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図</a:t>
            </a:r>
            <a:r>
              <a:rPr lang="en-US" altLang="ja-JP" sz="1000" dirty="0"/>
              <a:t>4</a:t>
            </a:r>
            <a:endParaRPr kumimoji="1" lang="ja-JP" altLang="en-US" sz="10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AD69F54-80E4-1679-AA6A-BDB325783F87}"/>
              </a:ext>
            </a:extLst>
          </p:cNvPr>
          <p:cNvSpPr txBox="1"/>
          <p:nvPr/>
        </p:nvSpPr>
        <p:spPr>
          <a:xfrm>
            <a:off x="1077012" y="5131203"/>
            <a:ext cx="22626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令和</a:t>
            </a:r>
            <a:r>
              <a:rPr kumimoji="1" lang="en-US" altLang="ja-JP" sz="1000" dirty="0"/>
              <a:t>3</a:t>
            </a:r>
            <a:r>
              <a:rPr kumimoji="1" lang="ja-JP" altLang="en-US" sz="1000" dirty="0"/>
              <a:t>～</a:t>
            </a:r>
            <a:r>
              <a:rPr kumimoji="1" lang="en-US" altLang="ja-JP" sz="1000" dirty="0"/>
              <a:t>5</a:t>
            </a:r>
            <a:r>
              <a:rPr kumimoji="1" lang="ja-JP" altLang="en-US" sz="1000" dirty="0"/>
              <a:t>年　菓子輸出通関実績推移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A90F9DF-7F70-6250-F7DA-02BD4B1918DD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楕円 7">
            <a:extLst>
              <a:ext uri="{FF2B5EF4-FFF2-40B4-BE49-F238E27FC236}">
                <a16:creationId xmlns:a16="http://schemas.microsoft.com/office/drawing/2014/main" id="{E1203024-7FC5-62F0-2F77-833F754D639A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D6B8D87-7672-5996-B8E3-0DA9F34F2981}"/>
              </a:ext>
            </a:extLst>
          </p:cNvPr>
          <p:cNvSpPr txBox="1"/>
          <p:nvPr/>
        </p:nvSpPr>
        <p:spPr>
          <a:xfrm>
            <a:off x="910219" y="1586230"/>
            <a:ext cx="269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駄菓子生産量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9DBDD38-9EAE-3C29-530C-DCDA3845AC87}"/>
              </a:ext>
            </a:extLst>
          </p:cNvPr>
          <p:cNvSpPr txBox="1"/>
          <p:nvPr/>
        </p:nvSpPr>
        <p:spPr>
          <a:xfrm>
            <a:off x="907186" y="3769686"/>
            <a:ext cx="3698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国外への輸出量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AC66765-879F-7FC0-8199-96DADACE48F5}"/>
              </a:ext>
            </a:extLst>
          </p:cNvPr>
          <p:cNvSpPr txBox="1"/>
          <p:nvPr/>
        </p:nvSpPr>
        <p:spPr>
          <a:xfrm>
            <a:off x="2144184" y="5762036"/>
            <a:ext cx="6112323" cy="703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1" dirty="0"/>
              <a:t>駄菓子には需要がある！</a:t>
            </a: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21C2BC2-91CD-B0D7-122C-3FC2414E8B2C}"/>
              </a:ext>
            </a:extLst>
          </p:cNvPr>
          <p:cNvSpPr/>
          <p:nvPr/>
        </p:nvSpPr>
        <p:spPr>
          <a:xfrm>
            <a:off x="779368" y="1763827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60C382B0-75E8-B7D1-F095-D99180470DF0}"/>
              </a:ext>
            </a:extLst>
          </p:cNvPr>
          <p:cNvSpPr/>
          <p:nvPr/>
        </p:nvSpPr>
        <p:spPr>
          <a:xfrm>
            <a:off x="779367" y="38970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グラフィックス 25" descr="キャレットを右へ 単色塗りつぶし">
            <a:extLst>
              <a:ext uri="{FF2B5EF4-FFF2-40B4-BE49-F238E27FC236}">
                <a16:creationId xmlns:a16="http://schemas.microsoft.com/office/drawing/2014/main" id="{803591C7-7755-8D64-7930-1FDAFD697B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2866" y="5595198"/>
            <a:ext cx="1011318" cy="101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9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C19C32-BFA5-2E2B-6CB5-EBE37BB96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766218"/>
            <a:ext cx="10033000" cy="1325563"/>
          </a:xfrm>
        </p:spPr>
        <p:txBody>
          <a:bodyPr>
            <a:normAutofit/>
          </a:bodyPr>
          <a:lstStyle/>
          <a:p>
            <a:r>
              <a:rPr lang="ja-JP" altLang="en-US" sz="4800" dirty="0"/>
              <a:t>駄菓子屋、行ったことありますか？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537657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A243D3-457D-C720-3021-5D184C709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60" y="253999"/>
            <a:ext cx="4739640" cy="1016635"/>
          </a:xfrm>
        </p:spPr>
        <p:txBody>
          <a:bodyPr/>
          <a:lstStyle/>
          <a:p>
            <a:r>
              <a:rPr kumimoji="1" lang="ja-JP" altLang="en-US" dirty="0"/>
              <a:t>駄菓子屋の現状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A56D950-9B1F-C139-226C-80CDB7890BFF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4A0E0A35-B9C0-DD8A-E8EC-2189D638EA42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051B6B9-680D-EA03-1FBF-4804A3A5836C}"/>
              </a:ext>
            </a:extLst>
          </p:cNvPr>
          <p:cNvSpPr txBox="1"/>
          <p:nvPr/>
        </p:nvSpPr>
        <p:spPr>
          <a:xfrm>
            <a:off x="1259840" y="1623964"/>
            <a:ext cx="452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近年、店舗数が急激に減少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D597000-A12E-BD3A-F334-34800DF2F33F}"/>
              </a:ext>
            </a:extLst>
          </p:cNvPr>
          <p:cNvSpPr txBox="1"/>
          <p:nvPr/>
        </p:nvSpPr>
        <p:spPr>
          <a:xfrm>
            <a:off x="1463040" y="2018207"/>
            <a:ext cx="5337810" cy="11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400" dirty="0"/>
              <a:t>コンビニやスーマーケットの普及</a:t>
            </a:r>
            <a:endParaRPr kumimoji="1" lang="en-US" altLang="ja-JP" sz="2400" dirty="0"/>
          </a:p>
          <a:p>
            <a:pPr>
              <a:lnSpc>
                <a:spcPct val="150000"/>
              </a:lnSpc>
            </a:pPr>
            <a:r>
              <a:rPr lang="ja-JP" altLang="en-US" sz="2400" dirty="0"/>
              <a:t>少子高齢化</a:t>
            </a:r>
            <a:endParaRPr kumimoji="1" lang="ja-JP" altLang="en-US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1E3530F-0AEA-6DA7-019C-33BF235325E5}"/>
              </a:ext>
            </a:extLst>
          </p:cNvPr>
          <p:cNvSpPr txBox="1"/>
          <p:nvPr/>
        </p:nvSpPr>
        <p:spPr>
          <a:xfrm>
            <a:off x="1259840" y="3891142"/>
            <a:ext cx="562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高級菓子やスイーツ店に変容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66C9E5B-8D54-3794-386D-6C9782858C24}"/>
              </a:ext>
            </a:extLst>
          </p:cNvPr>
          <p:cNvSpPr txBox="1"/>
          <p:nvPr/>
        </p:nvSpPr>
        <p:spPr>
          <a:xfrm>
            <a:off x="1463040" y="4475448"/>
            <a:ext cx="1757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生存戦略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2A3694B2-97A1-7C8C-FFC0-47B44E1783F0}"/>
              </a:ext>
            </a:extLst>
          </p:cNvPr>
          <p:cNvSpPr/>
          <p:nvPr/>
        </p:nvSpPr>
        <p:spPr>
          <a:xfrm>
            <a:off x="1002888" y="182272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A6368146-0A5A-178A-954D-E6032E55551A}"/>
              </a:ext>
            </a:extLst>
          </p:cNvPr>
          <p:cNvSpPr/>
          <p:nvPr/>
        </p:nvSpPr>
        <p:spPr>
          <a:xfrm>
            <a:off x="959295" y="4089900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グラフィックス 16" descr="キャレットを右へ 枠線">
            <a:extLst>
              <a:ext uri="{FF2B5EF4-FFF2-40B4-BE49-F238E27FC236}">
                <a16:creationId xmlns:a16="http://schemas.microsoft.com/office/drawing/2014/main" id="{5E6E9DAD-4015-798B-4251-9AA98F8B0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596" y="2123936"/>
            <a:ext cx="461689" cy="461689"/>
          </a:xfrm>
          <a:prstGeom prst="rect">
            <a:avLst/>
          </a:prstGeom>
        </p:spPr>
      </p:pic>
      <p:pic>
        <p:nvPicPr>
          <p:cNvPr id="18" name="グラフィックス 17" descr="キャレットを右へ 枠線">
            <a:extLst>
              <a:ext uri="{FF2B5EF4-FFF2-40B4-BE49-F238E27FC236}">
                <a16:creationId xmlns:a16="http://schemas.microsoft.com/office/drawing/2014/main" id="{D628A6BE-C52F-B544-BC97-5647D516E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595" y="2699273"/>
            <a:ext cx="461689" cy="461689"/>
          </a:xfrm>
          <a:prstGeom prst="rect">
            <a:avLst/>
          </a:prstGeom>
        </p:spPr>
      </p:pic>
      <p:pic>
        <p:nvPicPr>
          <p:cNvPr id="20" name="グラフィックス 19" descr="キャレットを右へ 枠線">
            <a:extLst>
              <a:ext uri="{FF2B5EF4-FFF2-40B4-BE49-F238E27FC236}">
                <a16:creationId xmlns:a16="http://schemas.microsoft.com/office/drawing/2014/main" id="{7FB71A39-93B4-3416-D243-144844C54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595" y="4471636"/>
            <a:ext cx="461689" cy="46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386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A243D3-457D-C720-3021-5D184C709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60" y="253999"/>
            <a:ext cx="4739640" cy="1016635"/>
          </a:xfrm>
        </p:spPr>
        <p:txBody>
          <a:bodyPr/>
          <a:lstStyle/>
          <a:p>
            <a:r>
              <a:rPr kumimoji="1" lang="ja-JP" altLang="en-US" dirty="0"/>
              <a:t>駄菓子屋の現状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A56D950-9B1F-C139-226C-80CDB7890BFF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4A0E0A35-B9C0-DD8A-E8EC-2189D638EA42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051B6B9-680D-EA03-1FBF-4804A3A5836C}"/>
              </a:ext>
            </a:extLst>
          </p:cNvPr>
          <p:cNvSpPr txBox="1"/>
          <p:nvPr/>
        </p:nvSpPr>
        <p:spPr>
          <a:xfrm>
            <a:off x="1259840" y="1623964"/>
            <a:ext cx="452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近年、店舗数が急激に減少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D597000-A12E-BD3A-F334-34800DF2F33F}"/>
              </a:ext>
            </a:extLst>
          </p:cNvPr>
          <p:cNvSpPr txBox="1"/>
          <p:nvPr/>
        </p:nvSpPr>
        <p:spPr>
          <a:xfrm>
            <a:off x="1463040" y="2018207"/>
            <a:ext cx="4947922" cy="11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400" dirty="0"/>
              <a:t>コンビニやスーマーケットの普及</a:t>
            </a:r>
            <a:endParaRPr kumimoji="1" lang="en-US" altLang="ja-JP" sz="2400" dirty="0"/>
          </a:p>
          <a:p>
            <a:pPr>
              <a:lnSpc>
                <a:spcPct val="150000"/>
              </a:lnSpc>
            </a:pPr>
            <a:r>
              <a:rPr lang="ja-JP" altLang="en-US" sz="2400" dirty="0"/>
              <a:t>少子高齢化</a:t>
            </a:r>
            <a:endParaRPr kumimoji="1" lang="ja-JP" altLang="en-US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1E3530F-0AEA-6DA7-019C-33BF235325E5}"/>
              </a:ext>
            </a:extLst>
          </p:cNvPr>
          <p:cNvSpPr txBox="1"/>
          <p:nvPr/>
        </p:nvSpPr>
        <p:spPr>
          <a:xfrm>
            <a:off x="1259840" y="3891142"/>
            <a:ext cx="562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高級菓子やスイーツ店に変容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66C9E5B-8D54-3794-386D-6C9782858C24}"/>
              </a:ext>
            </a:extLst>
          </p:cNvPr>
          <p:cNvSpPr txBox="1"/>
          <p:nvPr/>
        </p:nvSpPr>
        <p:spPr>
          <a:xfrm>
            <a:off x="1463040" y="4475448"/>
            <a:ext cx="17576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生存戦略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5A453D3-21D9-574B-4B97-CDACD2C139C2}"/>
              </a:ext>
            </a:extLst>
          </p:cNvPr>
          <p:cNvSpPr txBox="1"/>
          <p:nvPr/>
        </p:nvSpPr>
        <p:spPr>
          <a:xfrm>
            <a:off x="2113280" y="5527568"/>
            <a:ext cx="5868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b="1" dirty="0"/>
              <a:t>駄菓子屋には需要がない？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2A3694B2-97A1-7C8C-FFC0-47B44E1783F0}"/>
              </a:ext>
            </a:extLst>
          </p:cNvPr>
          <p:cNvSpPr/>
          <p:nvPr/>
        </p:nvSpPr>
        <p:spPr>
          <a:xfrm>
            <a:off x="1002888" y="182272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A6368146-0A5A-178A-954D-E6032E55551A}"/>
              </a:ext>
            </a:extLst>
          </p:cNvPr>
          <p:cNvSpPr/>
          <p:nvPr/>
        </p:nvSpPr>
        <p:spPr>
          <a:xfrm>
            <a:off x="959295" y="4089900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グラフィックス 16" descr="キャレットを右へ 枠線">
            <a:extLst>
              <a:ext uri="{FF2B5EF4-FFF2-40B4-BE49-F238E27FC236}">
                <a16:creationId xmlns:a16="http://schemas.microsoft.com/office/drawing/2014/main" id="{5E6E9DAD-4015-798B-4251-9AA98F8B0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596" y="2123936"/>
            <a:ext cx="461689" cy="461689"/>
          </a:xfrm>
          <a:prstGeom prst="rect">
            <a:avLst/>
          </a:prstGeom>
        </p:spPr>
      </p:pic>
      <p:pic>
        <p:nvPicPr>
          <p:cNvPr id="18" name="グラフィックス 17" descr="キャレットを右へ 枠線">
            <a:extLst>
              <a:ext uri="{FF2B5EF4-FFF2-40B4-BE49-F238E27FC236}">
                <a16:creationId xmlns:a16="http://schemas.microsoft.com/office/drawing/2014/main" id="{D628A6BE-C52F-B544-BC97-5647D516E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595" y="2699273"/>
            <a:ext cx="461689" cy="461689"/>
          </a:xfrm>
          <a:prstGeom prst="rect">
            <a:avLst/>
          </a:prstGeom>
        </p:spPr>
      </p:pic>
      <p:pic>
        <p:nvPicPr>
          <p:cNvPr id="20" name="グラフィックス 19" descr="キャレットを右へ 枠線">
            <a:extLst>
              <a:ext uri="{FF2B5EF4-FFF2-40B4-BE49-F238E27FC236}">
                <a16:creationId xmlns:a16="http://schemas.microsoft.com/office/drawing/2014/main" id="{7FB71A39-93B4-3416-D243-144844C54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0595" y="4471636"/>
            <a:ext cx="461689" cy="461689"/>
          </a:xfrm>
          <a:prstGeom prst="rect">
            <a:avLst/>
          </a:prstGeom>
        </p:spPr>
      </p:pic>
      <p:pic>
        <p:nvPicPr>
          <p:cNvPr id="21" name="グラフィックス 20" descr="キャレットを右へ 単色塗りつぶし">
            <a:extLst>
              <a:ext uri="{FF2B5EF4-FFF2-40B4-BE49-F238E27FC236}">
                <a16:creationId xmlns:a16="http://schemas.microsoft.com/office/drawing/2014/main" id="{CEEA41BA-0557-7AAB-7B36-72BC0E7DCC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0595" y="5345075"/>
            <a:ext cx="1011318" cy="101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509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BFD5C3-729B-55FA-C23F-06C26D77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480" y="263525"/>
            <a:ext cx="4912360" cy="1047115"/>
          </a:xfrm>
        </p:spPr>
        <p:txBody>
          <a:bodyPr/>
          <a:lstStyle/>
          <a:p>
            <a:r>
              <a:rPr kumimoji="1" lang="ja-JP" altLang="en-US" dirty="0"/>
              <a:t>レトロブームとは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E3F03C5-9D11-B93E-50A9-B5E16AC4B6B9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6F7DDF81-765C-69A7-7AA4-33A4A66864EB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BA7B1D1-4E83-EB91-BFF9-466DB771E843}"/>
              </a:ext>
            </a:extLst>
          </p:cNvPr>
          <p:cNvSpPr txBox="1"/>
          <p:nvPr/>
        </p:nvSpPr>
        <p:spPr>
          <a:xfrm>
            <a:off x="1393118" y="1732828"/>
            <a:ext cx="8628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過去に流行したアイテムや文化を現代の若者が新しいと感じ、再発信することで起こるブームのこと。</a:t>
            </a:r>
            <a:endParaRPr kumimoji="1"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5C705EF-06FA-D1AA-254F-7165E52FC6E1}"/>
              </a:ext>
            </a:extLst>
          </p:cNvPr>
          <p:cNvSpPr txBox="1"/>
          <p:nvPr/>
        </p:nvSpPr>
        <p:spPr>
          <a:xfrm>
            <a:off x="1393118" y="3429000"/>
            <a:ext cx="8294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近年</a:t>
            </a:r>
            <a:r>
              <a:rPr kumimoji="1" lang="ja-JP" altLang="en-US" sz="2400" dirty="0"/>
              <a:t>では</a:t>
            </a:r>
            <a:r>
              <a:rPr kumimoji="1" lang="ja-JP" altLang="en-US" sz="2400" b="1" dirty="0"/>
              <a:t>「昭和レトロ」</a:t>
            </a:r>
            <a:r>
              <a:rPr kumimoji="1" lang="ja-JP" altLang="en-US" sz="2400" dirty="0"/>
              <a:t>と呼ばれ、</a:t>
            </a:r>
            <a:r>
              <a:rPr kumimoji="1" lang="en-US" altLang="ja-JP" sz="2400" dirty="0"/>
              <a:t>Instagram</a:t>
            </a:r>
            <a:r>
              <a:rPr kumimoji="1" lang="ja-JP" altLang="en-US" sz="2400" dirty="0"/>
              <a:t>や</a:t>
            </a:r>
            <a:r>
              <a:rPr kumimoji="1" lang="en-US" altLang="ja-JP" sz="2400" dirty="0"/>
              <a:t>X</a:t>
            </a:r>
            <a:r>
              <a:rPr kumimoji="1" lang="ja-JP" altLang="en-US" sz="2400" dirty="0"/>
              <a:t>などで、さまざま</a:t>
            </a:r>
            <a:r>
              <a:rPr kumimoji="1" lang="ja-JP" altLang="en-US" sz="2400" b="1" dirty="0"/>
              <a:t>「昭和なもの」</a:t>
            </a:r>
            <a:r>
              <a:rPr kumimoji="1" lang="ja-JP" altLang="en-US" sz="2400" dirty="0"/>
              <a:t>が楽しまれている。</a:t>
            </a:r>
            <a:endParaRPr kumimoji="1"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98AE7F2-542B-9963-9319-8D274DCA1428}"/>
              </a:ext>
            </a:extLst>
          </p:cNvPr>
          <p:cNvSpPr txBox="1"/>
          <p:nvPr/>
        </p:nvSpPr>
        <p:spPr>
          <a:xfrm>
            <a:off x="1393118" y="5125172"/>
            <a:ext cx="8768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駄菓子屋は</a:t>
            </a:r>
            <a:r>
              <a:rPr lang="ja-JP" altLang="en-US" sz="2400" b="1" dirty="0"/>
              <a:t>「昭和なもの」</a:t>
            </a:r>
            <a:r>
              <a:rPr lang="ja-JP" altLang="en-US" sz="2400" dirty="0"/>
              <a:t>の一つと言える。</a:t>
            </a:r>
            <a:endParaRPr kumimoji="1" lang="en-US" altLang="ja-JP" sz="2400" dirty="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7083E689-6DD2-E76E-66AA-A4A75AB0B5A8}"/>
              </a:ext>
            </a:extLst>
          </p:cNvPr>
          <p:cNvSpPr/>
          <p:nvPr/>
        </p:nvSpPr>
        <p:spPr>
          <a:xfrm>
            <a:off x="1032241" y="1876048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65649AF4-6D91-43E5-93F1-BBB7E4460A0A}"/>
              </a:ext>
            </a:extLst>
          </p:cNvPr>
          <p:cNvSpPr/>
          <p:nvPr/>
        </p:nvSpPr>
        <p:spPr>
          <a:xfrm>
            <a:off x="1034833" y="3579455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233E6966-08DD-14A1-AA4C-B2E700E6B201}"/>
              </a:ext>
            </a:extLst>
          </p:cNvPr>
          <p:cNvSpPr/>
          <p:nvPr/>
        </p:nvSpPr>
        <p:spPr>
          <a:xfrm>
            <a:off x="1032241" y="5282862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6463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CAE65B-14D5-F376-830F-0ECB9B047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742" y="272527"/>
            <a:ext cx="4567177" cy="989113"/>
          </a:xfrm>
        </p:spPr>
        <p:txBody>
          <a:bodyPr/>
          <a:lstStyle/>
          <a:p>
            <a:r>
              <a:rPr kumimoji="1" lang="ja-JP" altLang="en-US" dirty="0"/>
              <a:t>駄菓子屋の需要</a:t>
            </a:r>
          </a:p>
        </p:txBody>
      </p:sp>
      <p:pic>
        <p:nvPicPr>
          <p:cNvPr id="7" name="図 6" descr="建物, 座る, 本, テーブル が含まれている画像&#10;&#10;自動的に生成された説明">
            <a:extLst>
              <a:ext uri="{FF2B5EF4-FFF2-40B4-BE49-F238E27FC236}">
                <a16:creationId xmlns:a16="http://schemas.microsoft.com/office/drawing/2014/main" id="{8F869636-359D-94A0-8D58-29F42B5AC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993" y="1588905"/>
            <a:ext cx="2760558" cy="2070419"/>
          </a:xfrm>
          <a:prstGeom prst="rect">
            <a:avLst/>
          </a:prstGeom>
        </p:spPr>
      </p:pic>
      <p:pic>
        <p:nvPicPr>
          <p:cNvPr id="9" name="図 8" descr="屋外, 草, 道路, 建物 が含まれている画像&#10;&#10;自動的に生成された説明">
            <a:extLst>
              <a:ext uri="{FF2B5EF4-FFF2-40B4-BE49-F238E27FC236}">
                <a16:creationId xmlns:a16="http://schemas.microsoft.com/office/drawing/2014/main" id="{60E17D6A-28CC-5E56-B4C0-84DB445E6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993" y="3984407"/>
            <a:ext cx="2760556" cy="2070417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971AD46-42D9-8BB6-F89C-BC487E710C9A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D46BD2BD-3ED3-89A7-1C80-FEA9B2E30F3E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81F3CF9-132B-6371-4217-B846ADA76453}"/>
              </a:ext>
            </a:extLst>
          </p:cNvPr>
          <p:cNvSpPr txBox="1"/>
          <p:nvPr/>
        </p:nvSpPr>
        <p:spPr>
          <a:xfrm>
            <a:off x="942578" y="1620911"/>
            <a:ext cx="6082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駄菓子屋のミニチュアモデルの存在</a:t>
            </a:r>
            <a:endParaRPr kumimoji="1" lang="en-US" altLang="ja-JP" sz="28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0AB2B3B-69DC-027B-E04D-5515567BE2B6}"/>
              </a:ext>
            </a:extLst>
          </p:cNvPr>
          <p:cNvSpPr txBox="1"/>
          <p:nvPr/>
        </p:nvSpPr>
        <p:spPr>
          <a:xfrm>
            <a:off x="1655019" y="2223729"/>
            <a:ext cx="2974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Z</a:t>
            </a:r>
            <a:r>
              <a:rPr lang="ja-JP" altLang="en-US" sz="2400" dirty="0"/>
              <a:t>世代の女性に人気</a:t>
            </a:r>
            <a:endParaRPr lang="en-US" altLang="ja-JP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BC97B62-8993-0B54-7BB0-6C800A477E76}"/>
              </a:ext>
            </a:extLst>
          </p:cNvPr>
          <p:cNvSpPr txBox="1"/>
          <p:nvPr/>
        </p:nvSpPr>
        <p:spPr>
          <a:xfrm>
            <a:off x="1871240" y="2569711"/>
            <a:ext cx="4224760" cy="11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400" dirty="0"/>
              <a:t>レトロな雰囲気</a:t>
            </a:r>
            <a:endParaRPr kumimoji="1" lang="en-US" altLang="ja-JP" sz="2400" dirty="0"/>
          </a:p>
          <a:p>
            <a:pPr>
              <a:lnSpc>
                <a:spcPct val="150000"/>
              </a:lnSpc>
            </a:pPr>
            <a:r>
              <a:rPr lang="ja-JP" altLang="en-US" sz="2400" dirty="0"/>
              <a:t>細部までこだわった再現性</a:t>
            </a:r>
            <a:endParaRPr kumimoji="1" lang="ja-JP" altLang="en-US" sz="2400" dirty="0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4F3767D-E81C-22A8-FDBB-9DE32A358BCF}"/>
              </a:ext>
            </a:extLst>
          </p:cNvPr>
          <p:cNvSpPr/>
          <p:nvPr/>
        </p:nvSpPr>
        <p:spPr>
          <a:xfrm>
            <a:off x="699013" y="1801778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45F29E0E-106E-FE60-04DC-48CFAC9E8F42}"/>
              </a:ext>
            </a:extLst>
          </p:cNvPr>
          <p:cNvSpPr/>
          <p:nvPr/>
        </p:nvSpPr>
        <p:spPr>
          <a:xfrm>
            <a:off x="1433801" y="2373395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グラフィックス 18" descr="キャレットを右へ 枠線">
            <a:extLst>
              <a:ext uri="{FF2B5EF4-FFF2-40B4-BE49-F238E27FC236}">
                <a16:creationId xmlns:a16="http://schemas.microsoft.com/office/drawing/2014/main" id="{3F8564AA-2D14-9678-9702-BB393A4FCE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9431" y="2667351"/>
            <a:ext cx="461689" cy="461689"/>
          </a:xfrm>
          <a:prstGeom prst="rect">
            <a:avLst/>
          </a:prstGeom>
        </p:spPr>
      </p:pic>
      <p:pic>
        <p:nvPicPr>
          <p:cNvPr id="20" name="グラフィックス 19" descr="キャレットを右へ 枠線">
            <a:extLst>
              <a:ext uri="{FF2B5EF4-FFF2-40B4-BE49-F238E27FC236}">
                <a16:creationId xmlns:a16="http://schemas.microsoft.com/office/drawing/2014/main" id="{EC252D7C-B2B1-1E6F-C3B2-EBCE34D4AC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9430" y="3229642"/>
            <a:ext cx="461689" cy="46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968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CAE65B-14D5-F376-830F-0ECB9B047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742" y="272527"/>
            <a:ext cx="4567177" cy="989113"/>
          </a:xfrm>
        </p:spPr>
        <p:txBody>
          <a:bodyPr/>
          <a:lstStyle/>
          <a:p>
            <a:r>
              <a:rPr kumimoji="1" lang="ja-JP" altLang="en-US" dirty="0"/>
              <a:t>駄菓子屋の需要</a:t>
            </a:r>
          </a:p>
        </p:txBody>
      </p:sp>
      <p:pic>
        <p:nvPicPr>
          <p:cNvPr id="7" name="図 6" descr="建物, 座る, 本, テーブル が含まれている画像&#10;&#10;自動的に生成された説明">
            <a:extLst>
              <a:ext uri="{FF2B5EF4-FFF2-40B4-BE49-F238E27FC236}">
                <a16:creationId xmlns:a16="http://schemas.microsoft.com/office/drawing/2014/main" id="{8F869636-359D-94A0-8D58-29F42B5AC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993" y="1588905"/>
            <a:ext cx="2760558" cy="2070419"/>
          </a:xfrm>
          <a:prstGeom prst="rect">
            <a:avLst/>
          </a:prstGeom>
        </p:spPr>
      </p:pic>
      <p:pic>
        <p:nvPicPr>
          <p:cNvPr id="9" name="図 8" descr="屋外, 草, 道路, 建物 が含まれている画像&#10;&#10;自動的に生成された説明">
            <a:extLst>
              <a:ext uri="{FF2B5EF4-FFF2-40B4-BE49-F238E27FC236}">
                <a16:creationId xmlns:a16="http://schemas.microsoft.com/office/drawing/2014/main" id="{60E17D6A-28CC-5E56-B4C0-84DB445E62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993" y="3984407"/>
            <a:ext cx="2760556" cy="2070417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971AD46-42D9-8BB6-F89C-BC487E710C9A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D46BD2BD-3ED3-89A7-1C80-FEA9B2E30F3E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81F3CF9-132B-6371-4217-B846ADA76453}"/>
              </a:ext>
            </a:extLst>
          </p:cNvPr>
          <p:cNvSpPr txBox="1"/>
          <p:nvPr/>
        </p:nvSpPr>
        <p:spPr>
          <a:xfrm>
            <a:off x="942578" y="1620911"/>
            <a:ext cx="60820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駄菓子屋のミニチュアモデルの存在</a:t>
            </a:r>
            <a:endParaRPr kumimoji="1" lang="en-US" altLang="ja-JP" sz="28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0AB2B3B-69DC-027B-E04D-5515567BE2B6}"/>
              </a:ext>
            </a:extLst>
          </p:cNvPr>
          <p:cNvSpPr txBox="1"/>
          <p:nvPr/>
        </p:nvSpPr>
        <p:spPr>
          <a:xfrm>
            <a:off x="1655019" y="2223729"/>
            <a:ext cx="2974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Z</a:t>
            </a:r>
            <a:r>
              <a:rPr lang="ja-JP" altLang="en-US" sz="2400" dirty="0"/>
              <a:t>世代の女性に人気</a:t>
            </a:r>
            <a:endParaRPr lang="en-US" altLang="ja-JP" sz="24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BC97B62-8993-0B54-7BB0-6C800A477E76}"/>
              </a:ext>
            </a:extLst>
          </p:cNvPr>
          <p:cNvSpPr txBox="1"/>
          <p:nvPr/>
        </p:nvSpPr>
        <p:spPr>
          <a:xfrm>
            <a:off x="1871240" y="2569711"/>
            <a:ext cx="4224760" cy="11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400" dirty="0"/>
              <a:t>レトロな雰囲気</a:t>
            </a:r>
            <a:endParaRPr kumimoji="1" lang="en-US" altLang="ja-JP" sz="2400" dirty="0"/>
          </a:p>
          <a:p>
            <a:pPr>
              <a:lnSpc>
                <a:spcPct val="150000"/>
              </a:lnSpc>
            </a:pPr>
            <a:r>
              <a:rPr lang="ja-JP" altLang="en-US" sz="2400" dirty="0"/>
              <a:t>細部までこだわった再現性</a:t>
            </a:r>
            <a:endParaRPr kumimoji="1" lang="ja-JP" altLang="en-US" sz="24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EFA7D55-BFBD-74CC-FA24-A8508673AD8C}"/>
              </a:ext>
            </a:extLst>
          </p:cNvPr>
          <p:cNvSpPr txBox="1"/>
          <p:nvPr/>
        </p:nvSpPr>
        <p:spPr>
          <a:xfrm>
            <a:off x="1388672" y="4513956"/>
            <a:ext cx="91324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駄菓子屋の</a:t>
            </a:r>
            <a:r>
              <a:rPr kumimoji="1" lang="ja-JP" altLang="en-US" sz="3200" b="1" dirty="0"/>
              <a:t>「レトロ」</a:t>
            </a:r>
            <a:r>
              <a:rPr kumimoji="1" lang="ja-JP" altLang="en-US" sz="3200" dirty="0"/>
              <a:t>な</a:t>
            </a:r>
            <a:endParaRPr kumimoji="1" lang="en-US" altLang="ja-JP" sz="3200" dirty="0"/>
          </a:p>
          <a:p>
            <a:r>
              <a:rPr kumimoji="1" lang="ja-JP" altLang="en-US" sz="3200" dirty="0"/>
              <a:t>　　　　　　　　部分に需要がある！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4F3767D-E81C-22A8-FDBB-9DE32A358BCF}"/>
              </a:ext>
            </a:extLst>
          </p:cNvPr>
          <p:cNvSpPr/>
          <p:nvPr/>
        </p:nvSpPr>
        <p:spPr>
          <a:xfrm>
            <a:off x="699013" y="1801778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45F29E0E-106E-FE60-04DC-48CFAC9E8F42}"/>
              </a:ext>
            </a:extLst>
          </p:cNvPr>
          <p:cNvSpPr/>
          <p:nvPr/>
        </p:nvSpPr>
        <p:spPr>
          <a:xfrm>
            <a:off x="1433801" y="2373395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グラフィックス 18" descr="キャレットを右へ 枠線">
            <a:extLst>
              <a:ext uri="{FF2B5EF4-FFF2-40B4-BE49-F238E27FC236}">
                <a16:creationId xmlns:a16="http://schemas.microsoft.com/office/drawing/2014/main" id="{3F8564AA-2D14-9678-9702-BB393A4FCE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9431" y="2667351"/>
            <a:ext cx="461689" cy="461689"/>
          </a:xfrm>
          <a:prstGeom prst="rect">
            <a:avLst/>
          </a:prstGeom>
        </p:spPr>
      </p:pic>
      <p:pic>
        <p:nvPicPr>
          <p:cNvPr id="20" name="グラフィックス 19" descr="キャレットを右へ 枠線">
            <a:extLst>
              <a:ext uri="{FF2B5EF4-FFF2-40B4-BE49-F238E27FC236}">
                <a16:creationId xmlns:a16="http://schemas.microsoft.com/office/drawing/2014/main" id="{EC252D7C-B2B1-1E6F-C3B2-EBCE34D4AC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09430" y="3229642"/>
            <a:ext cx="461689" cy="461689"/>
          </a:xfrm>
          <a:prstGeom prst="rect">
            <a:avLst/>
          </a:prstGeom>
        </p:spPr>
      </p:pic>
      <p:pic>
        <p:nvPicPr>
          <p:cNvPr id="21" name="グラフィックス 20" descr="キャレットを右へ 単色塗りつぶし">
            <a:extLst>
              <a:ext uri="{FF2B5EF4-FFF2-40B4-BE49-F238E27FC236}">
                <a16:creationId xmlns:a16="http://schemas.microsoft.com/office/drawing/2014/main" id="{B62FFF6C-67CE-EF31-ECD8-51204FD887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1263" y="4297306"/>
            <a:ext cx="1011318" cy="101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36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DB2448E-F39D-FA69-3215-719D5D0DFA3E}"/>
              </a:ext>
            </a:extLst>
          </p:cNvPr>
          <p:cNvSpPr txBox="1"/>
          <p:nvPr/>
        </p:nvSpPr>
        <p:spPr>
          <a:xfrm>
            <a:off x="254806" y="331771"/>
            <a:ext cx="15045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企画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F3260591-C834-CDDD-812C-7E44DA5F4F84}"/>
              </a:ext>
            </a:extLst>
          </p:cNvPr>
          <p:cNvSpPr/>
          <p:nvPr/>
        </p:nvSpPr>
        <p:spPr>
          <a:xfrm>
            <a:off x="728268" y="1636859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A599B16D-7824-3DAA-0315-7C0ACA155A8C}"/>
              </a:ext>
            </a:extLst>
          </p:cNvPr>
          <p:cNvSpPr/>
          <p:nvPr/>
        </p:nvSpPr>
        <p:spPr>
          <a:xfrm>
            <a:off x="733363" y="293350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134D7C57-871D-3B2A-CCF3-E938D6C25B7F}"/>
              </a:ext>
            </a:extLst>
          </p:cNvPr>
          <p:cNvSpPr/>
          <p:nvPr/>
        </p:nvSpPr>
        <p:spPr>
          <a:xfrm>
            <a:off x="728267" y="4162532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07FB61B-F76E-7481-7703-2ABEFCF2BF64}"/>
              </a:ext>
            </a:extLst>
          </p:cNvPr>
          <p:cNvSpPr txBox="1"/>
          <p:nvPr/>
        </p:nvSpPr>
        <p:spPr>
          <a:xfrm>
            <a:off x="856086" y="1436504"/>
            <a:ext cx="3719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テーマ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2574339-D79A-CC7D-01AB-62F446431DE9}"/>
              </a:ext>
            </a:extLst>
          </p:cNvPr>
          <p:cNvSpPr txBox="1"/>
          <p:nvPr/>
        </p:nvSpPr>
        <p:spPr>
          <a:xfrm>
            <a:off x="498373" y="3257349"/>
            <a:ext cx="4385187" cy="1315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300000"/>
              </a:lnSpc>
            </a:pPr>
            <a:r>
              <a:rPr lang="ja-JP" altLang="en-US" sz="3200" dirty="0"/>
              <a:t>理由</a:t>
            </a:r>
            <a:endParaRPr lang="en-US" altLang="ja-JP" sz="3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7FCF1EC-BA1D-4300-2F53-0F005749BA42}"/>
              </a:ext>
            </a:extLst>
          </p:cNvPr>
          <p:cNvSpPr txBox="1"/>
          <p:nvPr/>
        </p:nvSpPr>
        <p:spPr>
          <a:xfrm>
            <a:off x="498373" y="1971235"/>
            <a:ext cx="4385187" cy="1315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300000"/>
              </a:lnSpc>
            </a:pPr>
            <a:r>
              <a:rPr lang="ja-JP" altLang="en-US" sz="3200" dirty="0"/>
              <a:t>商品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2498380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DB2448E-F39D-FA69-3215-719D5D0DFA3E}"/>
              </a:ext>
            </a:extLst>
          </p:cNvPr>
          <p:cNvSpPr txBox="1"/>
          <p:nvPr/>
        </p:nvSpPr>
        <p:spPr>
          <a:xfrm>
            <a:off x="254806" y="331771"/>
            <a:ext cx="15045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企画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F3260591-C834-CDDD-812C-7E44DA5F4F84}"/>
              </a:ext>
            </a:extLst>
          </p:cNvPr>
          <p:cNvSpPr/>
          <p:nvPr/>
        </p:nvSpPr>
        <p:spPr>
          <a:xfrm>
            <a:off x="728268" y="1636859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A599B16D-7824-3DAA-0315-7C0ACA155A8C}"/>
              </a:ext>
            </a:extLst>
          </p:cNvPr>
          <p:cNvSpPr/>
          <p:nvPr/>
        </p:nvSpPr>
        <p:spPr>
          <a:xfrm>
            <a:off x="733363" y="293350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134D7C57-871D-3B2A-CCF3-E938D6C25B7F}"/>
              </a:ext>
            </a:extLst>
          </p:cNvPr>
          <p:cNvSpPr/>
          <p:nvPr/>
        </p:nvSpPr>
        <p:spPr>
          <a:xfrm>
            <a:off x="728267" y="4162532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716FA13-51B1-1762-2849-3BB74283189C}"/>
              </a:ext>
            </a:extLst>
          </p:cNvPr>
          <p:cNvSpPr txBox="1"/>
          <p:nvPr/>
        </p:nvSpPr>
        <p:spPr>
          <a:xfrm>
            <a:off x="1595065" y="2001121"/>
            <a:ext cx="438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昔ながらの駄菓子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173CA3CF-09C3-3800-5880-E468CA0A2BA3}"/>
              </a:ext>
            </a:extLst>
          </p:cNvPr>
          <p:cNvSpPr/>
          <p:nvPr/>
        </p:nvSpPr>
        <p:spPr>
          <a:xfrm>
            <a:off x="1224342" y="216910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4A205DF-B17C-5865-39D6-ADFCCC0A2A75}"/>
              </a:ext>
            </a:extLst>
          </p:cNvPr>
          <p:cNvSpPr txBox="1"/>
          <p:nvPr/>
        </p:nvSpPr>
        <p:spPr>
          <a:xfrm>
            <a:off x="498373" y="1971235"/>
            <a:ext cx="4385187" cy="1315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300000"/>
              </a:lnSpc>
            </a:pPr>
            <a:r>
              <a:rPr lang="ja-JP" altLang="en-US" sz="3200" dirty="0"/>
              <a:t>商品</a:t>
            </a:r>
            <a:endParaRPr lang="en-US" altLang="ja-JP" sz="32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07FB61B-F76E-7481-7703-2ABEFCF2BF64}"/>
              </a:ext>
            </a:extLst>
          </p:cNvPr>
          <p:cNvSpPr txBox="1"/>
          <p:nvPr/>
        </p:nvSpPr>
        <p:spPr>
          <a:xfrm>
            <a:off x="856086" y="1436504"/>
            <a:ext cx="3719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テーマ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2574339-D79A-CC7D-01AB-62F446431DE9}"/>
              </a:ext>
            </a:extLst>
          </p:cNvPr>
          <p:cNvSpPr txBox="1"/>
          <p:nvPr/>
        </p:nvSpPr>
        <p:spPr>
          <a:xfrm>
            <a:off x="498373" y="3257349"/>
            <a:ext cx="4385187" cy="1315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300000"/>
              </a:lnSpc>
            </a:pPr>
            <a:r>
              <a:rPr lang="ja-JP" altLang="en-US" sz="3200" dirty="0"/>
              <a:t>理由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090194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DB2448E-F39D-FA69-3215-719D5D0DFA3E}"/>
              </a:ext>
            </a:extLst>
          </p:cNvPr>
          <p:cNvSpPr txBox="1"/>
          <p:nvPr/>
        </p:nvSpPr>
        <p:spPr>
          <a:xfrm>
            <a:off x="254806" y="331771"/>
            <a:ext cx="15045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企画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F3260591-C834-CDDD-812C-7E44DA5F4F84}"/>
              </a:ext>
            </a:extLst>
          </p:cNvPr>
          <p:cNvSpPr/>
          <p:nvPr/>
        </p:nvSpPr>
        <p:spPr>
          <a:xfrm>
            <a:off x="728268" y="1636859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A599B16D-7824-3DAA-0315-7C0ACA155A8C}"/>
              </a:ext>
            </a:extLst>
          </p:cNvPr>
          <p:cNvSpPr/>
          <p:nvPr/>
        </p:nvSpPr>
        <p:spPr>
          <a:xfrm>
            <a:off x="733363" y="293350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134D7C57-871D-3B2A-CCF3-E938D6C25B7F}"/>
              </a:ext>
            </a:extLst>
          </p:cNvPr>
          <p:cNvSpPr/>
          <p:nvPr/>
        </p:nvSpPr>
        <p:spPr>
          <a:xfrm>
            <a:off x="728267" y="4162532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716FA13-51B1-1762-2849-3BB74283189C}"/>
              </a:ext>
            </a:extLst>
          </p:cNvPr>
          <p:cNvSpPr txBox="1"/>
          <p:nvPr/>
        </p:nvSpPr>
        <p:spPr>
          <a:xfrm>
            <a:off x="1595065" y="2001121"/>
            <a:ext cx="438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昔ながらの駄菓子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173CA3CF-09C3-3800-5880-E468CA0A2BA3}"/>
              </a:ext>
            </a:extLst>
          </p:cNvPr>
          <p:cNvSpPr/>
          <p:nvPr/>
        </p:nvSpPr>
        <p:spPr>
          <a:xfrm>
            <a:off x="1224342" y="216910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4A205DF-B17C-5865-39D6-ADFCCC0A2A75}"/>
              </a:ext>
            </a:extLst>
          </p:cNvPr>
          <p:cNvSpPr txBox="1"/>
          <p:nvPr/>
        </p:nvSpPr>
        <p:spPr>
          <a:xfrm>
            <a:off x="498373" y="1971235"/>
            <a:ext cx="4385187" cy="1315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300000"/>
              </a:lnSpc>
            </a:pPr>
            <a:r>
              <a:rPr lang="ja-JP" altLang="en-US" sz="3200" dirty="0"/>
              <a:t>商品</a:t>
            </a:r>
            <a:endParaRPr lang="en-US" altLang="ja-JP" sz="3200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B660B088-0D21-4BB1-133D-DF55E139F686}"/>
              </a:ext>
            </a:extLst>
          </p:cNvPr>
          <p:cNvSpPr/>
          <p:nvPr/>
        </p:nvSpPr>
        <p:spPr>
          <a:xfrm>
            <a:off x="1239378" y="3509997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73454D2-0564-4544-690C-336581FB80FC}"/>
              </a:ext>
            </a:extLst>
          </p:cNvPr>
          <p:cNvSpPr txBox="1"/>
          <p:nvPr/>
        </p:nvSpPr>
        <p:spPr>
          <a:xfrm>
            <a:off x="1595064" y="3343209"/>
            <a:ext cx="438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駄菓子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C8C2C55-6AEB-FF4D-3F37-359F335E2A0F}"/>
              </a:ext>
            </a:extLst>
          </p:cNvPr>
          <p:cNvSpPr txBox="1"/>
          <p:nvPr/>
        </p:nvSpPr>
        <p:spPr>
          <a:xfrm>
            <a:off x="498373" y="3257349"/>
            <a:ext cx="4385187" cy="1315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300000"/>
              </a:lnSpc>
            </a:pPr>
            <a:r>
              <a:rPr lang="ja-JP" altLang="en-US" sz="3200" dirty="0"/>
              <a:t>理由</a:t>
            </a:r>
            <a:endParaRPr lang="en-US" altLang="ja-JP" sz="32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07FB61B-F76E-7481-7703-2ABEFCF2BF64}"/>
              </a:ext>
            </a:extLst>
          </p:cNvPr>
          <p:cNvSpPr txBox="1"/>
          <p:nvPr/>
        </p:nvSpPr>
        <p:spPr>
          <a:xfrm>
            <a:off x="856086" y="1436504"/>
            <a:ext cx="3719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テーマ</a:t>
            </a:r>
          </a:p>
        </p:txBody>
      </p:sp>
    </p:spTree>
    <p:extLst>
      <p:ext uri="{BB962C8B-B14F-4D97-AF65-F5344CB8AC3E}">
        <p14:creationId xmlns:p14="http://schemas.microsoft.com/office/powerpoint/2010/main" val="1152446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DB2448E-F39D-FA69-3215-719D5D0DFA3E}"/>
              </a:ext>
            </a:extLst>
          </p:cNvPr>
          <p:cNvSpPr txBox="1"/>
          <p:nvPr/>
        </p:nvSpPr>
        <p:spPr>
          <a:xfrm>
            <a:off x="254806" y="331771"/>
            <a:ext cx="15045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企画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F3260591-C834-CDDD-812C-7E44DA5F4F84}"/>
              </a:ext>
            </a:extLst>
          </p:cNvPr>
          <p:cNvSpPr/>
          <p:nvPr/>
        </p:nvSpPr>
        <p:spPr>
          <a:xfrm>
            <a:off x="728268" y="1636859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A599B16D-7824-3DAA-0315-7C0ACA155A8C}"/>
              </a:ext>
            </a:extLst>
          </p:cNvPr>
          <p:cNvSpPr/>
          <p:nvPr/>
        </p:nvSpPr>
        <p:spPr>
          <a:xfrm>
            <a:off x="733363" y="293350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134D7C57-871D-3B2A-CCF3-E938D6C25B7F}"/>
              </a:ext>
            </a:extLst>
          </p:cNvPr>
          <p:cNvSpPr/>
          <p:nvPr/>
        </p:nvSpPr>
        <p:spPr>
          <a:xfrm>
            <a:off x="728267" y="4162532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716FA13-51B1-1762-2849-3BB74283189C}"/>
              </a:ext>
            </a:extLst>
          </p:cNvPr>
          <p:cNvSpPr txBox="1"/>
          <p:nvPr/>
        </p:nvSpPr>
        <p:spPr>
          <a:xfrm>
            <a:off x="1595065" y="2001121"/>
            <a:ext cx="438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昔ながらの駄菓子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173CA3CF-09C3-3800-5880-E468CA0A2BA3}"/>
              </a:ext>
            </a:extLst>
          </p:cNvPr>
          <p:cNvSpPr/>
          <p:nvPr/>
        </p:nvSpPr>
        <p:spPr>
          <a:xfrm>
            <a:off x="1224342" y="216910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4A205DF-B17C-5865-39D6-ADFCCC0A2A75}"/>
              </a:ext>
            </a:extLst>
          </p:cNvPr>
          <p:cNvSpPr txBox="1"/>
          <p:nvPr/>
        </p:nvSpPr>
        <p:spPr>
          <a:xfrm>
            <a:off x="498373" y="1971235"/>
            <a:ext cx="4385187" cy="1315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300000"/>
              </a:lnSpc>
            </a:pPr>
            <a:r>
              <a:rPr lang="ja-JP" altLang="en-US" sz="3200" dirty="0"/>
              <a:t>商品</a:t>
            </a:r>
            <a:endParaRPr lang="en-US" altLang="ja-JP" sz="3200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B660B088-0D21-4BB1-133D-DF55E139F686}"/>
              </a:ext>
            </a:extLst>
          </p:cNvPr>
          <p:cNvSpPr/>
          <p:nvPr/>
        </p:nvSpPr>
        <p:spPr>
          <a:xfrm>
            <a:off x="1239378" y="3509997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73454D2-0564-4544-690C-336581FB80FC}"/>
              </a:ext>
            </a:extLst>
          </p:cNvPr>
          <p:cNvSpPr txBox="1"/>
          <p:nvPr/>
        </p:nvSpPr>
        <p:spPr>
          <a:xfrm>
            <a:off x="1595064" y="3343209"/>
            <a:ext cx="438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駄菓子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C8C2C55-6AEB-FF4D-3F37-359F335E2A0F}"/>
              </a:ext>
            </a:extLst>
          </p:cNvPr>
          <p:cNvSpPr txBox="1"/>
          <p:nvPr/>
        </p:nvSpPr>
        <p:spPr>
          <a:xfrm>
            <a:off x="498373" y="3257349"/>
            <a:ext cx="4385187" cy="1315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300000"/>
              </a:lnSpc>
            </a:pPr>
            <a:r>
              <a:rPr lang="ja-JP" altLang="en-US" sz="3200" dirty="0"/>
              <a:t>理由</a:t>
            </a:r>
            <a:endParaRPr lang="en-US" altLang="ja-JP" sz="3200" dirty="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53DDA420-E9E2-4187-1396-E0F5E04C380A}"/>
              </a:ext>
            </a:extLst>
          </p:cNvPr>
          <p:cNvSpPr/>
          <p:nvPr/>
        </p:nvSpPr>
        <p:spPr>
          <a:xfrm>
            <a:off x="1224342" y="4733259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D0D86746-B572-4C5D-A685-16059CB3E36D}"/>
              </a:ext>
            </a:extLst>
          </p:cNvPr>
          <p:cNvSpPr/>
          <p:nvPr/>
        </p:nvSpPr>
        <p:spPr>
          <a:xfrm>
            <a:off x="1239377" y="5289098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BD82B00-6619-719D-346C-A9E545FBB59C}"/>
              </a:ext>
            </a:extLst>
          </p:cNvPr>
          <p:cNvSpPr txBox="1"/>
          <p:nvPr/>
        </p:nvSpPr>
        <p:spPr>
          <a:xfrm>
            <a:off x="1595064" y="4583538"/>
            <a:ext cx="4942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駄菓子の需要が高い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B32068B-3150-7D59-6D0F-2A1814D752B5}"/>
              </a:ext>
            </a:extLst>
          </p:cNvPr>
          <p:cNvSpPr txBox="1"/>
          <p:nvPr/>
        </p:nvSpPr>
        <p:spPr>
          <a:xfrm>
            <a:off x="1595064" y="5121118"/>
            <a:ext cx="6368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駄菓子屋の「レトロ」な部分にも需要がある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07FB61B-F76E-7481-7703-2ABEFCF2BF64}"/>
              </a:ext>
            </a:extLst>
          </p:cNvPr>
          <p:cNvSpPr txBox="1"/>
          <p:nvPr/>
        </p:nvSpPr>
        <p:spPr>
          <a:xfrm>
            <a:off x="856086" y="1436504"/>
            <a:ext cx="3719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テーマ</a:t>
            </a:r>
          </a:p>
        </p:txBody>
      </p:sp>
    </p:spTree>
    <p:extLst>
      <p:ext uri="{BB962C8B-B14F-4D97-AF65-F5344CB8AC3E}">
        <p14:creationId xmlns:p14="http://schemas.microsoft.com/office/powerpoint/2010/main" val="934412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DB2448E-F39D-FA69-3215-719D5D0DFA3E}"/>
              </a:ext>
            </a:extLst>
          </p:cNvPr>
          <p:cNvSpPr txBox="1"/>
          <p:nvPr/>
        </p:nvSpPr>
        <p:spPr>
          <a:xfrm>
            <a:off x="254806" y="331771"/>
            <a:ext cx="15045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企画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F3260591-C834-CDDD-812C-7E44DA5F4F84}"/>
              </a:ext>
            </a:extLst>
          </p:cNvPr>
          <p:cNvSpPr/>
          <p:nvPr/>
        </p:nvSpPr>
        <p:spPr>
          <a:xfrm>
            <a:off x="728268" y="1636859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A599B16D-7824-3DAA-0315-7C0ACA155A8C}"/>
              </a:ext>
            </a:extLst>
          </p:cNvPr>
          <p:cNvSpPr/>
          <p:nvPr/>
        </p:nvSpPr>
        <p:spPr>
          <a:xfrm>
            <a:off x="733363" y="293350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134D7C57-871D-3B2A-CCF3-E938D6C25B7F}"/>
              </a:ext>
            </a:extLst>
          </p:cNvPr>
          <p:cNvSpPr/>
          <p:nvPr/>
        </p:nvSpPr>
        <p:spPr>
          <a:xfrm>
            <a:off x="728267" y="4162532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716FA13-51B1-1762-2849-3BB74283189C}"/>
              </a:ext>
            </a:extLst>
          </p:cNvPr>
          <p:cNvSpPr txBox="1"/>
          <p:nvPr/>
        </p:nvSpPr>
        <p:spPr>
          <a:xfrm>
            <a:off x="1595065" y="2001121"/>
            <a:ext cx="438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昔ながらの駄菓子</a:t>
            </a:r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173CA3CF-09C3-3800-5880-E468CA0A2BA3}"/>
              </a:ext>
            </a:extLst>
          </p:cNvPr>
          <p:cNvSpPr/>
          <p:nvPr/>
        </p:nvSpPr>
        <p:spPr>
          <a:xfrm>
            <a:off x="1224342" y="216910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4A205DF-B17C-5865-39D6-ADFCCC0A2A75}"/>
              </a:ext>
            </a:extLst>
          </p:cNvPr>
          <p:cNvSpPr txBox="1"/>
          <p:nvPr/>
        </p:nvSpPr>
        <p:spPr>
          <a:xfrm>
            <a:off x="498373" y="1971235"/>
            <a:ext cx="4385187" cy="1315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300000"/>
              </a:lnSpc>
            </a:pPr>
            <a:r>
              <a:rPr lang="ja-JP" altLang="en-US" sz="3200" dirty="0"/>
              <a:t>商品</a:t>
            </a:r>
            <a:endParaRPr lang="en-US" altLang="ja-JP" sz="3200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B660B088-0D21-4BB1-133D-DF55E139F686}"/>
              </a:ext>
            </a:extLst>
          </p:cNvPr>
          <p:cNvSpPr/>
          <p:nvPr/>
        </p:nvSpPr>
        <p:spPr>
          <a:xfrm>
            <a:off x="1239378" y="3509997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73454D2-0564-4544-690C-336581FB80FC}"/>
              </a:ext>
            </a:extLst>
          </p:cNvPr>
          <p:cNvSpPr txBox="1"/>
          <p:nvPr/>
        </p:nvSpPr>
        <p:spPr>
          <a:xfrm>
            <a:off x="1595064" y="3343209"/>
            <a:ext cx="43851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駄菓子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C8C2C55-6AEB-FF4D-3F37-359F335E2A0F}"/>
              </a:ext>
            </a:extLst>
          </p:cNvPr>
          <p:cNvSpPr txBox="1"/>
          <p:nvPr/>
        </p:nvSpPr>
        <p:spPr>
          <a:xfrm>
            <a:off x="498373" y="3257349"/>
            <a:ext cx="4385187" cy="1315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300000"/>
              </a:lnSpc>
            </a:pPr>
            <a:r>
              <a:rPr lang="ja-JP" altLang="en-US" sz="3200" dirty="0"/>
              <a:t>理由</a:t>
            </a:r>
            <a:endParaRPr lang="en-US" altLang="ja-JP" sz="3200" dirty="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53DDA420-E9E2-4187-1396-E0F5E04C380A}"/>
              </a:ext>
            </a:extLst>
          </p:cNvPr>
          <p:cNvSpPr/>
          <p:nvPr/>
        </p:nvSpPr>
        <p:spPr>
          <a:xfrm>
            <a:off x="1224342" y="4733259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D0D86746-B572-4C5D-A685-16059CB3E36D}"/>
              </a:ext>
            </a:extLst>
          </p:cNvPr>
          <p:cNvSpPr/>
          <p:nvPr/>
        </p:nvSpPr>
        <p:spPr>
          <a:xfrm>
            <a:off x="1239377" y="5289098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BD82B00-6619-719D-346C-A9E545FBB59C}"/>
              </a:ext>
            </a:extLst>
          </p:cNvPr>
          <p:cNvSpPr txBox="1"/>
          <p:nvPr/>
        </p:nvSpPr>
        <p:spPr>
          <a:xfrm>
            <a:off x="1595064" y="4583538"/>
            <a:ext cx="4942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駄菓子の需要が高い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B32068B-3150-7D59-6D0F-2A1814D752B5}"/>
              </a:ext>
            </a:extLst>
          </p:cNvPr>
          <p:cNvSpPr txBox="1"/>
          <p:nvPr/>
        </p:nvSpPr>
        <p:spPr>
          <a:xfrm>
            <a:off x="1595064" y="5121118"/>
            <a:ext cx="6368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駄菓子屋の「レトロ」な部分にも需要がある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07FB61B-F76E-7481-7703-2ABEFCF2BF64}"/>
              </a:ext>
            </a:extLst>
          </p:cNvPr>
          <p:cNvSpPr txBox="1"/>
          <p:nvPr/>
        </p:nvSpPr>
        <p:spPr>
          <a:xfrm>
            <a:off x="856086" y="1436504"/>
            <a:ext cx="37193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テーマ</a:t>
            </a:r>
          </a:p>
        </p:txBody>
      </p:sp>
      <p:pic>
        <p:nvPicPr>
          <p:cNvPr id="4" name="グラフィックス 3" descr="キャレットを右へ 単色塗りつぶし">
            <a:extLst>
              <a:ext uri="{FF2B5EF4-FFF2-40B4-BE49-F238E27FC236}">
                <a16:creationId xmlns:a16="http://schemas.microsoft.com/office/drawing/2014/main" id="{05EC0F0A-2A1C-9C31-687E-C9E031C9E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554" y="5574773"/>
            <a:ext cx="1011318" cy="1011318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14F4849-0878-5560-AF43-385F6FCD2954}"/>
              </a:ext>
            </a:extLst>
          </p:cNvPr>
          <p:cNvSpPr txBox="1"/>
          <p:nvPr/>
        </p:nvSpPr>
        <p:spPr>
          <a:xfrm>
            <a:off x="1141287" y="5838224"/>
            <a:ext cx="7275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「レトロマーケティング」が行える！</a:t>
            </a:r>
          </a:p>
        </p:txBody>
      </p:sp>
    </p:spTree>
    <p:extLst>
      <p:ext uri="{BB962C8B-B14F-4D97-AF65-F5344CB8AC3E}">
        <p14:creationId xmlns:p14="http://schemas.microsoft.com/office/powerpoint/2010/main" val="2659298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933E4A8-D6F8-D98F-27D0-40B8FDD225ED}"/>
              </a:ext>
            </a:extLst>
          </p:cNvPr>
          <p:cNvSpPr txBox="1"/>
          <p:nvPr/>
        </p:nvSpPr>
        <p:spPr>
          <a:xfrm>
            <a:off x="252567" y="394623"/>
            <a:ext cx="2595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企画概要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38B4C3-E80D-4A43-58AD-425E5E7EAD46}"/>
              </a:ext>
            </a:extLst>
          </p:cNvPr>
          <p:cNvSpPr txBox="1"/>
          <p:nvPr/>
        </p:nvSpPr>
        <p:spPr>
          <a:xfrm>
            <a:off x="890435" y="1373305"/>
            <a:ext cx="26940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ターゲット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343F85E-5778-24B0-846F-671B2AFC685C}"/>
              </a:ext>
            </a:extLst>
          </p:cNvPr>
          <p:cNvSpPr/>
          <p:nvPr/>
        </p:nvSpPr>
        <p:spPr>
          <a:xfrm>
            <a:off x="716527" y="1602842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D60AA6FC-9DEB-9D3D-AADA-67A80102483A}"/>
              </a:ext>
            </a:extLst>
          </p:cNvPr>
          <p:cNvSpPr/>
          <p:nvPr/>
        </p:nvSpPr>
        <p:spPr>
          <a:xfrm>
            <a:off x="1101626" y="2224854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9602216-F958-BA65-22E4-52D9C7D5931E}"/>
              </a:ext>
            </a:extLst>
          </p:cNvPr>
          <p:cNvSpPr txBox="1"/>
          <p:nvPr/>
        </p:nvSpPr>
        <p:spPr>
          <a:xfrm>
            <a:off x="1265080" y="2088301"/>
            <a:ext cx="55961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子ども（小学生前後）を持つ家庭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46873A8-0B7A-174E-5727-E82C1CEF852A}"/>
              </a:ext>
            </a:extLst>
          </p:cNvPr>
          <p:cNvSpPr txBox="1"/>
          <p:nvPr/>
        </p:nvSpPr>
        <p:spPr>
          <a:xfrm>
            <a:off x="1550425" y="2390229"/>
            <a:ext cx="6246789" cy="1060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200" dirty="0"/>
              <a:t>駄菓子屋と言えば子どもが集まる場所</a:t>
            </a:r>
            <a:endParaRPr kumimoji="1" lang="en-US" altLang="ja-JP" sz="2200" dirty="0"/>
          </a:p>
          <a:p>
            <a:pPr>
              <a:lnSpc>
                <a:spcPct val="150000"/>
              </a:lnSpc>
            </a:pPr>
            <a:r>
              <a:rPr lang="ja-JP" altLang="en-US" sz="2200" dirty="0"/>
              <a:t>親世代は駄菓子屋に通っていた世代</a:t>
            </a:r>
            <a:endParaRPr kumimoji="1" lang="ja-JP" altLang="en-US" sz="22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BF47681-A7E4-96EB-251B-BA60F1B2FB75}"/>
              </a:ext>
            </a:extLst>
          </p:cNvPr>
          <p:cNvSpPr txBox="1"/>
          <p:nvPr/>
        </p:nvSpPr>
        <p:spPr>
          <a:xfrm>
            <a:off x="1422605" y="3456347"/>
            <a:ext cx="73962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スマホ対応をすることで子どもだけでも利用可能に</a:t>
            </a: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AD1B2C5D-FF54-AC95-CECB-18178FDBA936}"/>
              </a:ext>
            </a:extLst>
          </p:cNvPr>
          <p:cNvSpPr/>
          <p:nvPr/>
        </p:nvSpPr>
        <p:spPr>
          <a:xfrm>
            <a:off x="1422606" y="2651707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F7574BB1-C2EA-EE5A-BD89-B3EF4F47108E}"/>
              </a:ext>
            </a:extLst>
          </p:cNvPr>
          <p:cNvSpPr/>
          <p:nvPr/>
        </p:nvSpPr>
        <p:spPr>
          <a:xfrm>
            <a:off x="1422605" y="312988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3786206-3B6A-4B51-4AA0-A13A8CB2B2B7}"/>
              </a:ext>
            </a:extLst>
          </p:cNvPr>
          <p:cNvSpPr txBox="1"/>
          <p:nvPr/>
        </p:nvSpPr>
        <p:spPr>
          <a:xfrm>
            <a:off x="1300259" y="4118773"/>
            <a:ext cx="2004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海外の方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0532D29-8DDD-0BFF-EE0E-A984E6D75EAD}"/>
              </a:ext>
            </a:extLst>
          </p:cNvPr>
          <p:cNvSpPr txBox="1"/>
          <p:nvPr/>
        </p:nvSpPr>
        <p:spPr>
          <a:xfrm>
            <a:off x="1550424" y="4422443"/>
            <a:ext cx="5835475" cy="1060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2200" dirty="0"/>
              <a:t>国外</a:t>
            </a:r>
            <a:r>
              <a:rPr kumimoji="1" lang="ja-JP" altLang="en-US" sz="2200" dirty="0"/>
              <a:t>への輸出量が近年増加傾向にある</a:t>
            </a:r>
            <a:endParaRPr kumimoji="1" lang="en-US" altLang="ja-JP" sz="2200" dirty="0"/>
          </a:p>
          <a:p>
            <a:pPr>
              <a:lnSpc>
                <a:spcPct val="150000"/>
              </a:lnSpc>
            </a:pPr>
            <a:r>
              <a:rPr lang="ja-JP" altLang="en-US" sz="2200" dirty="0"/>
              <a:t>日本らしさを知ってもらいたい</a:t>
            </a:r>
            <a:endParaRPr kumimoji="1" lang="ja-JP" altLang="en-US" sz="22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C48A8A4-C8F5-CA08-C619-AADDC04704C5}"/>
              </a:ext>
            </a:extLst>
          </p:cNvPr>
          <p:cNvSpPr txBox="1"/>
          <p:nvPr/>
        </p:nvSpPr>
        <p:spPr>
          <a:xfrm>
            <a:off x="1557858" y="5562722"/>
            <a:ext cx="3522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多言語に対応させる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BBE4E48-6EC7-E1C6-7660-72FDA2A82F61}"/>
              </a:ext>
            </a:extLst>
          </p:cNvPr>
          <p:cNvSpPr txBox="1"/>
          <p:nvPr/>
        </p:nvSpPr>
        <p:spPr>
          <a:xfrm>
            <a:off x="1557858" y="6104119"/>
            <a:ext cx="3750198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商品の詳細を掲載する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D3293094-9D85-C781-1094-3565F04F0439}"/>
              </a:ext>
            </a:extLst>
          </p:cNvPr>
          <p:cNvSpPr/>
          <p:nvPr/>
        </p:nvSpPr>
        <p:spPr>
          <a:xfrm>
            <a:off x="1101626" y="4220514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82942706-E103-B473-2AC0-21F50496AE8F}"/>
              </a:ext>
            </a:extLst>
          </p:cNvPr>
          <p:cNvSpPr/>
          <p:nvPr/>
        </p:nvSpPr>
        <p:spPr>
          <a:xfrm>
            <a:off x="1422606" y="4643428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8DA3698-D7F1-BE8F-7B42-B1E05832AF10}"/>
              </a:ext>
            </a:extLst>
          </p:cNvPr>
          <p:cNvSpPr/>
          <p:nvPr/>
        </p:nvSpPr>
        <p:spPr>
          <a:xfrm>
            <a:off x="1422605" y="5121604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グラフィックス 34" descr="キャレットを右へ 単色塗りつぶし">
            <a:extLst>
              <a:ext uri="{FF2B5EF4-FFF2-40B4-BE49-F238E27FC236}">
                <a16:creationId xmlns:a16="http://schemas.microsoft.com/office/drawing/2014/main" id="{5E721FAD-DC91-EA7A-EACF-1C46E228E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066" y="3438298"/>
            <a:ext cx="473792" cy="473792"/>
          </a:xfrm>
          <a:prstGeom prst="rect">
            <a:avLst/>
          </a:prstGeom>
        </p:spPr>
      </p:pic>
      <p:pic>
        <p:nvPicPr>
          <p:cNvPr id="36" name="グラフィックス 35" descr="キャレットを右へ 単色塗りつぶし">
            <a:extLst>
              <a:ext uri="{FF2B5EF4-FFF2-40B4-BE49-F238E27FC236}">
                <a16:creationId xmlns:a16="http://schemas.microsoft.com/office/drawing/2014/main" id="{1C554569-9C96-3C4F-95F3-43FE8543B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066" y="5534685"/>
            <a:ext cx="473792" cy="473792"/>
          </a:xfrm>
          <a:prstGeom prst="rect">
            <a:avLst/>
          </a:prstGeom>
        </p:spPr>
      </p:pic>
      <p:pic>
        <p:nvPicPr>
          <p:cNvPr id="37" name="グラフィックス 36" descr="キャレットを右へ 単色塗りつぶし">
            <a:extLst>
              <a:ext uri="{FF2B5EF4-FFF2-40B4-BE49-F238E27FC236}">
                <a16:creationId xmlns:a16="http://schemas.microsoft.com/office/drawing/2014/main" id="{A56853B5-4835-3DB7-DB35-77E8FD4C1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066" y="6074588"/>
            <a:ext cx="473792" cy="47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0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933E4A8-D6F8-D98F-27D0-40B8FDD225ED}"/>
              </a:ext>
            </a:extLst>
          </p:cNvPr>
          <p:cNvSpPr txBox="1"/>
          <p:nvPr/>
        </p:nvSpPr>
        <p:spPr>
          <a:xfrm>
            <a:off x="252567" y="394623"/>
            <a:ext cx="2595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企画概要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38B4C3-E80D-4A43-58AD-425E5E7EAD46}"/>
              </a:ext>
            </a:extLst>
          </p:cNvPr>
          <p:cNvSpPr txBox="1"/>
          <p:nvPr/>
        </p:nvSpPr>
        <p:spPr>
          <a:xfrm>
            <a:off x="925159" y="1606194"/>
            <a:ext cx="466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イマーシブ性（没入感）</a:t>
            </a:r>
            <a:endParaRPr kumimoji="1" lang="ja-JP" altLang="en-US" sz="3200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343F85E-5778-24B0-846F-671B2AFC685C}"/>
              </a:ext>
            </a:extLst>
          </p:cNvPr>
          <p:cNvSpPr/>
          <p:nvPr/>
        </p:nvSpPr>
        <p:spPr>
          <a:xfrm>
            <a:off x="751251" y="183573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ED1457A-5512-91F7-DEA6-60250FC885C7}"/>
              </a:ext>
            </a:extLst>
          </p:cNvPr>
          <p:cNvSpPr txBox="1"/>
          <p:nvPr/>
        </p:nvSpPr>
        <p:spPr>
          <a:xfrm>
            <a:off x="1342663" y="2232227"/>
            <a:ext cx="3495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意味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E6A9EBF-4135-EE10-BB8B-AE7FE5E15641}"/>
              </a:ext>
            </a:extLst>
          </p:cNvPr>
          <p:cNvSpPr txBox="1"/>
          <p:nvPr/>
        </p:nvSpPr>
        <p:spPr>
          <a:xfrm>
            <a:off x="1585149" y="2761740"/>
            <a:ext cx="7743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/>
              <a:t>VR</a:t>
            </a:r>
            <a:r>
              <a:rPr kumimoji="1" lang="ja-JP" altLang="en-US" sz="2400" dirty="0"/>
              <a:t>や</a:t>
            </a:r>
            <a:r>
              <a:rPr kumimoji="1" lang="en-US" altLang="ja-JP" sz="2400" dirty="0"/>
              <a:t>AR</a:t>
            </a:r>
            <a:r>
              <a:rPr kumimoji="1" lang="ja-JP" altLang="en-US" sz="2400" dirty="0"/>
              <a:t>などの拡張現実のことではなく、一室四面の脱出ゲームのような操作感のことを指しています。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9FA1A5CF-E3B9-6B55-D061-D4D6145CBF31}"/>
              </a:ext>
            </a:extLst>
          </p:cNvPr>
          <p:cNvSpPr/>
          <p:nvPr/>
        </p:nvSpPr>
        <p:spPr>
          <a:xfrm>
            <a:off x="1109857" y="2400209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0258A58-316B-C16F-849C-4EBE709D8407}"/>
              </a:ext>
            </a:extLst>
          </p:cNvPr>
          <p:cNvSpPr txBox="1"/>
          <p:nvPr/>
        </p:nvSpPr>
        <p:spPr>
          <a:xfrm>
            <a:off x="1342663" y="4146539"/>
            <a:ext cx="3495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目的</a:t>
            </a:r>
            <a:endParaRPr kumimoji="1" lang="ja-JP" altLang="en-US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66A540E-A681-DA64-D03C-3BDB26B3A41D}"/>
              </a:ext>
            </a:extLst>
          </p:cNvPr>
          <p:cNvSpPr txBox="1"/>
          <p:nvPr/>
        </p:nvSpPr>
        <p:spPr>
          <a:xfrm>
            <a:off x="1585149" y="4608204"/>
            <a:ext cx="8599990" cy="1148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2400" dirty="0"/>
              <a:t>ゲームのように駄菓子屋にいることを体感してもらうこと。</a:t>
            </a:r>
            <a:endParaRPr kumimoji="1" lang="en-US" altLang="ja-JP" sz="2400" dirty="0"/>
          </a:p>
          <a:p>
            <a:pPr>
              <a:lnSpc>
                <a:spcPct val="150000"/>
              </a:lnSpc>
            </a:pPr>
            <a:r>
              <a:rPr lang="ja-JP" altLang="en-US" sz="2400" dirty="0"/>
              <a:t>懐かしく新しいを感じてもらうこと。</a:t>
            </a:r>
            <a:endParaRPr kumimoji="1" lang="ja-JP" altLang="en-US" sz="2400" dirty="0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DF6296CE-B7A3-08A5-058E-FB66FC630864}"/>
              </a:ext>
            </a:extLst>
          </p:cNvPr>
          <p:cNvSpPr/>
          <p:nvPr/>
        </p:nvSpPr>
        <p:spPr>
          <a:xfrm>
            <a:off x="1109856" y="431452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3" name="グラフィックス 12" descr="キャレットを右へ 枠線">
            <a:extLst>
              <a:ext uri="{FF2B5EF4-FFF2-40B4-BE49-F238E27FC236}">
                <a16:creationId xmlns:a16="http://schemas.microsoft.com/office/drawing/2014/main" id="{C095276E-CC7E-D594-4982-1576A8B73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675" y="2736301"/>
            <a:ext cx="461689" cy="461689"/>
          </a:xfrm>
          <a:prstGeom prst="rect">
            <a:avLst/>
          </a:prstGeom>
        </p:spPr>
      </p:pic>
      <p:pic>
        <p:nvPicPr>
          <p:cNvPr id="14" name="グラフィックス 13" descr="キャレットを右へ 枠線">
            <a:extLst>
              <a:ext uri="{FF2B5EF4-FFF2-40B4-BE49-F238E27FC236}">
                <a16:creationId xmlns:a16="http://schemas.microsoft.com/office/drawing/2014/main" id="{AB0427EF-5D22-52A7-1D93-9A8C374BC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7675" y="4720807"/>
            <a:ext cx="461689" cy="461689"/>
          </a:xfrm>
          <a:prstGeom prst="rect">
            <a:avLst/>
          </a:prstGeom>
        </p:spPr>
      </p:pic>
      <p:pic>
        <p:nvPicPr>
          <p:cNvPr id="17" name="グラフィックス 16" descr="キャレットを右へ 枠線">
            <a:extLst>
              <a:ext uri="{FF2B5EF4-FFF2-40B4-BE49-F238E27FC236}">
                <a16:creationId xmlns:a16="http://schemas.microsoft.com/office/drawing/2014/main" id="{70DE8824-C2F9-76B0-EA10-F9B0F78F0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3062" y="5295099"/>
            <a:ext cx="461689" cy="46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032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933E4A8-D6F8-D98F-27D0-40B8FDD225ED}"/>
              </a:ext>
            </a:extLst>
          </p:cNvPr>
          <p:cNvSpPr txBox="1"/>
          <p:nvPr/>
        </p:nvSpPr>
        <p:spPr>
          <a:xfrm>
            <a:off x="252567" y="394623"/>
            <a:ext cx="2595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企画概要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38B4C3-E80D-4A43-58AD-425E5E7EAD46}"/>
              </a:ext>
            </a:extLst>
          </p:cNvPr>
          <p:cNvSpPr txBox="1"/>
          <p:nvPr/>
        </p:nvSpPr>
        <p:spPr>
          <a:xfrm>
            <a:off x="925159" y="1376658"/>
            <a:ext cx="466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ターゲット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343F85E-5778-24B0-846F-671B2AFC685C}"/>
              </a:ext>
            </a:extLst>
          </p:cNvPr>
          <p:cNvSpPr/>
          <p:nvPr/>
        </p:nvSpPr>
        <p:spPr>
          <a:xfrm>
            <a:off x="797340" y="154334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FDF9D10-C61F-0B5B-E7C2-C2CC3B056E51}"/>
              </a:ext>
            </a:extLst>
          </p:cNvPr>
          <p:cNvSpPr txBox="1"/>
          <p:nvPr/>
        </p:nvSpPr>
        <p:spPr>
          <a:xfrm>
            <a:off x="910489" y="2995129"/>
            <a:ext cx="466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特徴</a:t>
            </a:r>
            <a:endParaRPr kumimoji="1" lang="ja-JP" altLang="en-US" sz="3200" dirty="0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42EFD32-BE4F-A807-6FDC-EC491FF9F163}"/>
              </a:ext>
            </a:extLst>
          </p:cNvPr>
          <p:cNvSpPr/>
          <p:nvPr/>
        </p:nvSpPr>
        <p:spPr>
          <a:xfrm>
            <a:off x="782670" y="3161814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80AB8EC-C5FB-D3A3-BAA7-5025989CE62D}"/>
              </a:ext>
            </a:extLst>
          </p:cNvPr>
          <p:cNvSpPr txBox="1"/>
          <p:nvPr/>
        </p:nvSpPr>
        <p:spPr>
          <a:xfrm>
            <a:off x="910489" y="5109423"/>
            <a:ext cx="466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その他機能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315804B-ACB0-9D08-0C93-A1F348F16259}"/>
              </a:ext>
            </a:extLst>
          </p:cNvPr>
          <p:cNvSpPr/>
          <p:nvPr/>
        </p:nvSpPr>
        <p:spPr>
          <a:xfrm>
            <a:off x="782670" y="5276108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5087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933E4A8-D6F8-D98F-27D0-40B8FDD225ED}"/>
              </a:ext>
            </a:extLst>
          </p:cNvPr>
          <p:cNvSpPr txBox="1"/>
          <p:nvPr/>
        </p:nvSpPr>
        <p:spPr>
          <a:xfrm>
            <a:off x="252567" y="394623"/>
            <a:ext cx="2595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企画概要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38B4C3-E80D-4A43-58AD-425E5E7EAD46}"/>
              </a:ext>
            </a:extLst>
          </p:cNvPr>
          <p:cNvSpPr txBox="1"/>
          <p:nvPr/>
        </p:nvSpPr>
        <p:spPr>
          <a:xfrm>
            <a:off x="925159" y="1376658"/>
            <a:ext cx="466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ターゲット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343F85E-5778-24B0-846F-671B2AFC685C}"/>
              </a:ext>
            </a:extLst>
          </p:cNvPr>
          <p:cNvSpPr/>
          <p:nvPr/>
        </p:nvSpPr>
        <p:spPr>
          <a:xfrm>
            <a:off x="797340" y="154334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F1A5BEE5-F2D0-C88D-B9B9-56D286ACC90E}"/>
              </a:ext>
            </a:extLst>
          </p:cNvPr>
          <p:cNvSpPr/>
          <p:nvPr/>
        </p:nvSpPr>
        <p:spPr>
          <a:xfrm>
            <a:off x="1318434" y="2048324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65D4FD0-FE9A-59C0-028F-1497564A931D}"/>
              </a:ext>
            </a:extLst>
          </p:cNvPr>
          <p:cNvSpPr txBox="1"/>
          <p:nvPr/>
        </p:nvSpPr>
        <p:spPr>
          <a:xfrm>
            <a:off x="1460923" y="1899879"/>
            <a:ext cx="46497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200" dirty="0"/>
              <a:t>子ども（小学生前後）を持つ家庭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61FECE6-ABDC-A8A9-66EB-644B42C8FA63}"/>
              </a:ext>
            </a:extLst>
          </p:cNvPr>
          <p:cNvSpPr txBox="1"/>
          <p:nvPr/>
        </p:nvSpPr>
        <p:spPr>
          <a:xfrm>
            <a:off x="1460923" y="2330766"/>
            <a:ext cx="400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海外の方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F28D8719-7855-DA0A-B44E-85FA086B49CE}"/>
              </a:ext>
            </a:extLst>
          </p:cNvPr>
          <p:cNvSpPr/>
          <p:nvPr/>
        </p:nvSpPr>
        <p:spPr>
          <a:xfrm>
            <a:off x="1318434" y="2484654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FDF9D10-C61F-0B5B-E7C2-C2CC3B056E51}"/>
              </a:ext>
            </a:extLst>
          </p:cNvPr>
          <p:cNvSpPr txBox="1"/>
          <p:nvPr/>
        </p:nvSpPr>
        <p:spPr>
          <a:xfrm>
            <a:off x="910489" y="2995129"/>
            <a:ext cx="466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特徴</a:t>
            </a:r>
            <a:endParaRPr kumimoji="1" lang="ja-JP" altLang="en-US" sz="3200" dirty="0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42EFD32-BE4F-A807-6FDC-EC491FF9F163}"/>
              </a:ext>
            </a:extLst>
          </p:cNvPr>
          <p:cNvSpPr/>
          <p:nvPr/>
        </p:nvSpPr>
        <p:spPr>
          <a:xfrm>
            <a:off x="782670" y="3161814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80AB8EC-C5FB-D3A3-BAA7-5025989CE62D}"/>
              </a:ext>
            </a:extLst>
          </p:cNvPr>
          <p:cNvSpPr txBox="1"/>
          <p:nvPr/>
        </p:nvSpPr>
        <p:spPr>
          <a:xfrm>
            <a:off x="910489" y="5109423"/>
            <a:ext cx="466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その他機能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315804B-ACB0-9D08-0C93-A1F348F16259}"/>
              </a:ext>
            </a:extLst>
          </p:cNvPr>
          <p:cNvSpPr/>
          <p:nvPr/>
        </p:nvSpPr>
        <p:spPr>
          <a:xfrm>
            <a:off x="782670" y="5276108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3650418-B1DA-0FE9-6977-E68A1222C040}"/>
              </a:ext>
            </a:extLst>
          </p:cNvPr>
          <p:cNvSpPr txBox="1"/>
          <p:nvPr/>
        </p:nvSpPr>
        <p:spPr>
          <a:xfrm>
            <a:off x="1446253" y="6063531"/>
            <a:ext cx="400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24776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933E4A8-D6F8-D98F-27D0-40B8FDD225ED}"/>
              </a:ext>
            </a:extLst>
          </p:cNvPr>
          <p:cNvSpPr txBox="1"/>
          <p:nvPr/>
        </p:nvSpPr>
        <p:spPr>
          <a:xfrm>
            <a:off x="252567" y="394623"/>
            <a:ext cx="2595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企画概要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38B4C3-E80D-4A43-58AD-425E5E7EAD46}"/>
              </a:ext>
            </a:extLst>
          </p:cNvPr>
          <p:cNvSpPr txBox="1"/>
          <p:nvPr/>
        </p:nvSpPr>
        <p:spPr>
          <a:xfrm>
            <a:off x="925159" y="1376658"/>
            <a:ext cx="466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ターゲット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343F85E-5778-24B0-846F-671B2AFC685C}"/>
              </a:ext>
            </a:extLst>
          </p:cNvPr>
          <p:cNvSpPr/>
          <p:nvPr/>
        </p:nvSpPr>
        <p:spPr>
          <a:xfrm>
            <a:off x="797340" y="154334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F1A5BEE5-F2D0-C88D-B9B9-56D286ACC90E}"/>
              </a:ext>
            </a:extLst>
          </p:cNvPr>
          <p:cNvSpPr/>
          <p:nvPr/>
        </p:nvSpPr>
        <p:spPr>
          <a:xfrm>
            <a:off x="1318434" y="2048324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65D4FD0-FE9A-59C0-028F-1497564A931D}"/>
              </a:ext>
            </a:extLst>
          </p:cNvPr>
          <p:cNvSpPr txBox="1"/>
          <p:nvPr/>
        </p:nvSpPr>
        <p:spPr>
          <a:xfrm>
            <a:off x="1460923" y="1899879"/>
            <a:ext cx="46497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200" dirty="0"/>
              <a:t>子ども（小学生前後）を持つ家庭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61FECE6-ABDC-A8A9-66EB-644B42C8FA63}"/>
              </a:ext>
            </a:extLst>
          </p:cNvPr>
          <p:cNvSpPr txBox="1"/>
          <p:nvPr/>
        </p:nvSpPr>
        <p:spPr>
          <a:xfrm>
            <a:off x="1460923" y="2330766"/>
            <a:ext cx="400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海外の方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F28D8719-7855-DA0A-B44E-85FA086B49CE}"/>
              </a:ext>
            </a:extLst>
          </p:cNvPr>
          <p:cNvSpPr/>
          <p:nvPr/>
        </p:nvSpPr>
        <p:spPr>
          <a:xfrm>
            <a:off x="1318434" y="2484654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FDF9D10-C61F-0B5B-E7C2-C2CC3B056E51}"/>
              </a:ext>
            </a:extLst>
          </p:cNvPr>
          <p:cNvSpPr txBox="1"/>
          <p:nvPr/>
        </p:nvSpPr>
        <p:spPr>
          <a:xfrm>
            <a:off x="910489" y="2995129"/>
            <a:ext cx="466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特徴</a:t>
            </a:r>
            <a:endParaRPr kumimoji="1" lang="ja-JP" altLang="en-US" sz="3200" dirty="0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42EFD32-BE4F-A807-6FDC-EC491FF9F163}"/>
              </a:ext>
            </a:extLst>
          </p:cNvPr>
          <p:cNvSpPr/>
          <p:nvPr/>
        </p:nvSpPr>
        <p:spPr>
          <a:xfrm>
            <a:off x="782670" y="3161814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A38D18EC-667F-F0D9-F35C-0F736FD49DC1}"/>
              </a:ext>
            </a:extLst>
          </p:cNvPr>
          <p:cNvSpPr/>
          <p:nvPr/>
        </p:nvSpPr>
        <p:spPr>
          <a:xfrm>
            <a:off x="1303764" y="3666795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A1EBF01-5FC0-4E42-F074-BEAB174AE1A3}"/>
              </a:ext>
            </a:extLst>
          </p:cNvPr>
          <p:cNvSpPr txBox="1"/>
          <p:nvPr/>
        </p:nvSpPr>
        <p:spPr>
          <a:xfrm>
            <a:off x="1446253" y="3518350"/>
            <a:ext cx="46497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200" dirty="0"/>
              <a:t>イマーシブ性</a:t>
            </a:r>
            <a:endParaRPr kumimoji="1" lang="ja-JP" altLang="en-US" sz="22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AF20CC3-DC49-AA77-E8D8-1B32409AFA53}"/>
              </a:ext>
            </a:extLst>
          </p:cNvPr>
          <p:cNvSpPr txBox="1"/>
          <p:nvPr/>
        </p:nvSpPr>
        <p:spPr>
          <a:xfrm>
            <a:off x="1446253" y="3949237"/>
            <a:ext cx="400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レスポンシブ対応</a:t>
            </a:r>
            <a:endParaRPr kumimoji="1" lang="ja-JP" altLang="en-US" sz="24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F1242635-EB9A-E0E2-B06F-4DFBC89C1140}"/>
              </a:ext>
            </a:extLst>
          </p:cNvPr>
          <p:cNvSpPr/>
          <p:nvPr/>
        </p:nvSpPr>
        <p:spPr>
          <a:xfrm>
            <a:off x="1303764" y="4103125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D99C86CE-A580-AAAA-6A39-6688C56EC7DE}"/>
              </a:ext>
            </a:extLst>
          </p:cNvPr>
          <p:cNvSpPr/>
          <p:nvPr/>
        </p:nvSpPr>
        <p:spPr>
          <a:xfrm>
            <a:off x="1303764" y="4535309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18AB255-AA96-D4E7-09E1-FB7B4350923D}"/>
              </a:ext>
            </a:extLst>
          </p:cNvPr>
          <p:cNvSpPr txBox="1"/>
          <p:nvPr/>
        </p:nvSpPr>
        <p:spPr>
          <a:xfrm>
            <a:off x="1446253" y="4378570"/>
            <a:ext cx="400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多言語対応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80AB8EC-C5FB-D3A3-BAA7-5025989CE62D}"/>
              </a:ext>
            </a:extLst>
          </p:cNvPr>
          <p:cNvSpPr txBox="1"/>
          <p:nvPr/>
        </p:nvSpPr>
        <p:spPr>
          <a:xfrm>
            <a:off x="910489" y="5109423"/>
            <a:ext cx="466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その他機能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315804B-ACB0-9D08-0C93-A1F348F16259}"/>
              </a:ext>
            </a:extLst>
          </p:cNvPr>
          <p:cNvSpPr/>
          <p:nvPr/>
        </p:nvSpPr>
        <p:spPr>
          <a:xfrm>
            <a:off x="782670" y="5276108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3650418-B1DA-0FE9-6977-E68A1222C040}"/>
              </a:ext>
            </a:extLst>
          </p:cNvPr>
          <p:cNvSpPr txBox="1"/>
          <p:nvPr/>
        </p:nvSpPr>
        <p:spPr>
          <a:xfrm>
            <a:off x="1446253" y="6063531"/>
            <a:ext cx="400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64365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933E4A8-D6F8-D98F-27D0-40B8FDD225ED}"/>
              </a:ext>
            </a:extLst>
          </p:cNvPr>
          <p:cNvSpPr txBox="1"/>
          <p:nvPr/>
        </p:nvSpPr>
        <p:spPr>
          <a:xfrm>
            <a:off x="252567" y="394623"/>
            <a:ext cx="2595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企画概要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38B4C3-E80D-4A43-58AD-425E5E7EAD46}"/>
              </a:ext>
            </a:extLst>
          </p:cNvPr>
          <p:cNvSpPr txBox="1"/>
          <p:nvPr/>
        </p:nvSpPr>
        <p:spPr>
          <a:xfrm>
            <a:off x="925159" y="1376658"/>
            <a:ext cx="466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ターゲット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343F85E-5778-24B0-846F-671B2AFC685C}"/>
              </a:ext>
            </a:extLst>
          </p:cNvPr>
          <p:cNvSpPr/>
          <p:nvPr/>
        </p:nvSpPr>
        <p:spPr>
          <a:xfrm>
            <a:off x="797340" y="154334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F1A5BEE5-F2D0-C88D-B9B9-56D286ACC90E}"/>
              </a:ext>
            </a:extLst>
          </p:cNvPr>
          <p:cNvSpPr/>
          <p:nvPr/>
        </p:nvSpPr>
        <p:spPr>
          <a:xfrm>
            <a:off x="1318434" y="2048324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65D4FD0-FE9A-59C0-028F-1497564A931D}"/>
              </a:ext>
            </a:extLst>
          </p:cNvPr>
          <p:cNvSpPr txBox="1"/>
          <p:nvPr/>
        </p:nvSpPr>
        <p:spPr>
          <a:xfrm>
            <a:off x="1460923" y="1899879"/>
            <a:ext cx="46497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200" dirty="0"/>
              <a:t>子ども（小学生前後）を持つ家庭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61FECE6-ABDC-A8A9-66EB-644B42C8FA63}"/>
              </a:ext>
            </a:extLst>
          </p:cNvPr>
          <p:cNvSpPr txBox="1"/>
          <p:nvPr/>
        </p:nvSpPr>
        <p:spPr>
          <a:xfrm>
            <a:off x="1460923" y="2330766"/>
            <a:ext cx="400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海外の方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F28D8719-7855-DA0A-B44E-85FA086B49CE}"/>
              </a:ext>
            </a:extLst>
          </p:cNvPr>
          <p:cNvSpPr/>
          <p:nvPr/>
        </p:nvSpPr>
        <p:spPr>
          <a:xfrm>
            <a:off x="1318434" y="2484654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FDF9D10-C61F-0B5B-E7C2-C2CC3B056E51}"/>
              </a:ext>
            </a:extLst>
          </p:cNvPr>
          <p:cNvSpPr txBox="1"/>
          <p:nvPr/>
        </p:nvSpPr>
        <p:spPr>
          <a:xfrm>
            <a:off x="910489" y="2995129"/>
            <a:ext cx="466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特徴</a:t>
            </a:r>
            <a:endParaRPr kumimoji="1" lang="ja-JP" altLang="en-US" sz="3200" dirty="0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42EFD32-BE4F-A807-6FDC-EC491FF9F163}"/>
              </a:ext>
            </a:extLst>
          </p:cNvPr>
          <p:cNvSpPr/>
          <p:nvPr/>
        </p:nvSpPr>
        <p:spPr>
          <a:xfrm>
            <a:off x="782670" y="3161814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A38D18EC-667F-F0D9-F35C-0F736FD49DC1}"/>
              </a:ext>
            </a:extLst>
          </p:cNvPr>
          <p:cNvSpPr/>
          <p:nvPr/>
        </p:nvSpPr>
        <p:spPr>
          <a:xfrm>
            <a:off x="1303764" y="3666795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A1EBF01-5FC0-4E42-F074-BEAB174AE1A3}"/>
              </a:ext>
            </a:extLst>
          </p:cNvPr>
          <p:cNvSpPr txBox="1"/>
          <p:nvPr/>
        </p:nvSpPr>
        <p:spPr>
          <a:xfrm>
            <a:off x="1446253" y="3518350"/>
            <a:ext cx="46497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200" dirty="0"/>
              <a:t>イマーシブ性</a:t>
            </a:r>
            <a:endParaRPr kumimoji="1" lang="ja-JP" altLang="en-US" sz="22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AF20CC3-DC49-AA77-E8D8-1B32409AFA53}"/>
              </a:ext>
            </a:extLst>
          </p:cNvPr>
          <p:cNvSpPr txBox="1"/>
          <p:nvPr/>
        </p:nvSpPr>
        <p:spPr>
          <a:xfrm>
            <a:off x="1446253" y="3949237"/>
            <a:ext cx="400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レスポンシブ対応</a:t>
            </a:r>
            <a:endParaRPr kumimoji="1" lang="ja-JP" altLang="en-US" sz="2400" dirty="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F1242635-EB9A-E0E2-B06F-4DFBC89C1140}"/>
              </a:ext>
            </a:extLst>
          </p:cNvPr>
          <p:cNvSpPr/>
          <p:nvPr/>
        </p:nvSpPr>
        <p:spPr>
          <a:xfrm>
            <a:off x="1303764" y="4103125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D99C86CE-A580-AAAA-6A39-6688C56EC7DE}"/>
              </a:ext>
            </a:extLst>
          </p:cNvPr>
          <p:cNvSpPr/>
          <p:nvPr/>
        </p:nvSpPr>
        <p:spPr>
          <a:xfrm>
            <a:off x="1303764" y="4535309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18AB255-AA96-D4E7-09E1-FB7B4350923D}"/>
              </a:ext>
            </a:extLst>
          </p:cNvPr>
          <p:cNvSpPr txBox="1"/>
          <p:nvPr/>
        </p:nvSpPr>
        <p:spPr>
          <a:xfrm>
            <a:off x="1446253" y="4378570"/>
            <a:ext cx="400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多言語対応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80AB8EC-C5FB-D3A3-BAA7-5025989CE62D}"/>
              </a:ext>
            </a:extLst>
          </p:cNvPr>
          <p:cNvSpPr txBox="1"/>
          <p:nvPr/>
        </p:nvSpPr>
        <p:spPr>
          <a:xfrm>
            <a:off x="910489" y="5109423"/>
            <a:ext cx="46644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その他機能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315804B-ACB0-9D08-0C93-A1F348F16259}"/>
              </a:ext>
            </a:extLst>
          </p:cNvPr>
          <p:cNvSpPr/>
          <p:nvPr/>
        </p:nvSpPr>
        <p:spPr>
          <a:xfrm>
            <a:off x="782670" y="5276108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4C546A06-7BAB-EAC0-2942-204316F3DCEF}"/>
              </a:ext>
            </a:extLst>
          </p:cNvPr>
          <p:cNvSpPr/>
          <p:nvPr/>
        </p:nvSpPr>
        <p:spPr>
          <a:xfrm>
            <a:off x="1303764" y="5781089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E071DEA-6EA8-A493-46C1-2BE8B04749B9}"/>
              </a:ext>
            </a:extLst>
          </p:cNvPr>
          <p:cNvSpPr txBox="1"/>
          <p:nvPr/>
        </p:nvSpPr>
        <p:spPr>
          <a:xfrm>
            <a:off x="1446253" y="5632644"/>
            <a:ext cx="46497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200" dirty="0"/>
              <a:t>ショートカットの作成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3650418-B1DA-0FE9-6977-E68A1222C040}"/>
              </a:ext>
            </a:extLst>
          </p:cNvPr>
          <p:cNvSpPr txBox="1"/>
          <p:nvPr/>
        </p:nvSpPr>
        <p:spPr>
          <a:xfrm>
            <a:off x="1446253" y="6063531"/>
            <a:ext cx="400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sz="2400" dirty="0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6359A0F6-D2E6-4D08-BDEE-0F48DA7AE0DB}"/>
              </a:ext>
            </a:extLst>
          </p:cNvPr>
          <p:cNvSpPr/>
          <p:nvPr/>
        </p:nvSpPr>
        <p:spPr>
          <a:xfrm>
            <a:off x="1303764" y="6217419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333AE50-3AA1-A6F9-680F-655B56B919D4}"/>
              </a:ext>
            </a:extLst>
          </p:cNvPr>
          <p:cNvSpPr txBox="1"/>
          <p:nvPr/>
        </p:nvSpPr>
        <p:spPr>
          <a:xfrm>
            <a:off x="1431583" y="6094309"/>
            <a:ext cx="4004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会員登録機能の実装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97371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933E4A8-D6F8-D98F-27D0-40B8FDD225ED}"/>
              </a:ext>
            </a:extLst>
          </p:cNvPr>
          <p:cNvSpPr txBox="1"/>
          <p:nvPr/>
        </p:nvSpPr>
        <p:spPr>
          <a:xfrm>
            <a:off x="252567" y="394623"/>
            <a:ext cx="36241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dirty="0"/>
              <a:t>モックアップ</a:t>
            </a:r>
            <a:endParaRPr kumimoji="1" lang="ja-JP" altLang="en-US" sz="4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38B4C3-E80D-4A43-58AD-425E5E7EAD46}"/>
              </a:ext>
            </a:extLst>
          </p:cNvPr>
          <p:cNvSpPr txBox="1"/>
          <p:nvPr/>
        </p:nvSpPr>
        <p:spPr>
          <a:xfrm>
            <a:off x="925159" y="1376658"/>
            <a:ext cx="2484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/>
              <a:t>TOP</a:t>
            </a:r>
            <a:r>
              <a:rPr kumimoji="1" lang="ja-JP" altLang="en-US" sz="3200" dirty="0"/>
              <a:t>ページ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343F85E-5778-24B0-846F-671B2AFC685C}"/>
              </a:ext>
            </a:extLst>
          </p:cNvPr>
          <p:cNvSpPr/>
          <p:nvPr/>
        </p:nvSpPr>
        <p:spPr>
          <a:xfrm>
            <a:off x="797340" y="154334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ダイアグラム">
            <a:extLst>
              <a:ext uri="{FF2B5EF4-FFF2-40B4-BE49-F238E27FC236}">
                <a16:creationId xmlns:a16="http://schemas.microsoft.com/office/drawing/2014/main" id="{820570E1-4E06-8A83-B8C2-E3F145607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395" y="1961433"/>
            <a:ext cx="9000000" cy="448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176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933E4A8-D6F8-D98F-27D0-40B8FDD225ED}"/>
              </a:ext>
            </a:extLst>
          </p:cNvPr>
          <p:cNvSpPr txBox="1"/>
          <p:nvPr/>
        </p:nvSpPr>
        <p:spPr>
          <a:xfrm>
            <a:off x="252567" y="394623"/>
            <a:ext cx="36241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dirty="0"/>
              <a:t>モックアップ</a:t>
            </a:r>
            <a:endParaRPr kumimoji="1" lang="ja-JP" altLang="en-US" sz="4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38B4C3-E80D-4A43-58AD-425E5E7EAD46}"/>
              </a:ext>
            </a:extLst>
          </p:cNvPr>
          <p:cNvSpPr txBox="1"/>
          <p:nvPr/>
        </p:nvSpPr>
        <p:spPr>
          <a:xfrm>
            <a:off x="925159" y="1376658"/>
            <a:ext cx="36241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商品一覧ページ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343F85E-5778-24B0-846F-671B2AFC685C}"/>
              </a:ext>
            </a:extLst>
          </p:cNvPr>
          <p:cNvSpPr/>
          <p:nvPr/>
        </p:nvSpPr>
        <p:spPr>
          <a:xfrm>
            <a:off x="797340" y="154334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 descr="ダイアグラム&#10;&#10;自動的に生成された説明">
            <a:extLst>
              <a:ext uri="{FF2B5EF4-FFF2-40B4-BE49-F238E27FC236}">
                <a16:creationId xmlns:a16="http://schemas.microsoft.com/office/drawing/2014/main" id="{96E9BBC2-FE0A-0719-A00C-6D67ED201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178" y="1961433"/>
            <a:ext cx="9000000" cy="449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39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933E4A8-D6F8-D98F-27D0-40B8FDD225ED}"/>
              </a:ext>
            </a:extLst>
          </p:cNvPr>
          <p:cNvSpPr txBox="1"/>
          <p:nvPr/>
        </p:nvSpPr>
        <p:spPr>
          <a:xfrm>
            <a:off x="252567" y="394623"/>
            <a:ext cx="36241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dirty="0"/>
              <a:t>モックアップ</a:t>
            </a:r>
            <a:endParaRPr kumimoji="1" lang="ja-JP" altLang="en-US" sz="4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38B4C3-E80D-4A43-58AD-425E5E7EAD46}"/>
              </a:ext>
            </a:extLst>
          </p:cNvPr>
          <p:cNvSpPr txBox="1"/>
          <p:nvPr/>
        </p:nvSpPr>
        <p:spPr>
          <a:xfrm>
            <a:off x="925159" y="1376658"/>
            <a:ext cx="67615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商品詳細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343F85E-5778-24B0-846F-671B2AFC685C}"/>
              </a:ext>
            </a:extLst>
          </p:cNvPr>
          <p:cNvSpPr/>
          <p:nvPr/>
        </p:nvSpPr>
        <p:spPr>
          <a:xfrm>
            <a:off x="797340" y="154334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 descr="グラフィカル ユーザー インターフェイス, テキスト">
            <a:extLst>
              <a:ext uri="{FF2B5EF4-FFF2-40B4-BE49-F238E27FC236}">
                <a16:creationId xmlns:a16="http://schemas.microsoft.com/office/drawing/2014/main" id="{F1642D75-DA6A-29A0-B287-BDDBA21C3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178" y="1979761"/>
            <a:ext cx="9000000" cy="448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001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933E4A8-D6F8-D98F-27D0-40B8FDD225ED}"/>
              </a:ext>
            </a:extLst>
          </p:cNvPr>
          <p:cNvSpPr txBox="1"/>
          <p:nvPr/>
        </p:nvSpPr>
        <p:spPr>
          <a:xfrm>
            <a:off x="252567" y="394623"/>
            <a:ext cx="36241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dirty="0"/>
              <a:t>モックアップ</a:t>
            </a:r>
            <a:endParaRPr kumimoji="1" lang="ja-JP" altLang="en-US" sz="4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38B4C3-E80D-4A43-58AD-425E5E7EAD46}"/>
              </a:ext>
            </a:extLst>
          </p:cNvPr>
          <p:cNvSpPr txBox="1"/>
          <p:nvPr/>
        </p:nvSpPr>
        <p:spPr>
          <a:xfrm>
            <a:off x="925159" y="1376658"/>
            <a:ext cx="24847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買い物かご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343F85E-5778-24B0-846F-671B2AFC685C}"/>
              </a:ext>
            </a:extLst>
          </p:cNvPr>
          <p:cNvSpPr/>
          <p:nvPr/>
        </p:nvSpPr>
        <p:spPr>
          <a:xfrm>
            <a:off x="797340" y="154334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 descr="グラフィカル ユーザー インターフェイス, テキスト">
            <a:extLst>
              <a:ext uri="{FF2B5EF4-FFF2-40B4-BE49-F238E27FC236}">
                <a16:creationId xmlns:a16="http://schemas.microsoft.com/office/drawing/2014/main" id="{212F7E57-187D-F776-CBC6-D35EE19B2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178" y="1961433"/>
            <a:ext cx="9000000" cy="448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623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933E4A8-D6F8-D98F-27D0-40B8FDD225ED}"/>
              </a:ext>
            </a:extLst>
          </p:cNvPr>
          <p:cNvSpPr txBox="1"/>
          <p:nvPr/>
        </p:nvSpPr>
        <p:spPr>
          <a:xfrm>
            <a:off x="252567" y="394623"/>
            <a:ext cx="36241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dirty="0"/>
              <a:t>モックアップ</a:t>
            </a:r>
            <a:endParaRPr kumimoji="1" lang="ja-JP" altLang="en-US" sz="4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338B4C3-E80D-4A43-58AD-425E5E7EAD46}"/>
              </a:ext>
            </a:extLst>
          </p:cNvPr>
          <p:cNvSpPr txBox="1"/>
          <p:nvPr/>
        </p:nvSpPr>
        <p:spPr>
          <a:xfrm>
            <a:off x="925159" y="1376658"/>
            <a:ext cx="3199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dirty="0"/>
              <a:t>商品購入ページ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7343F85E-5778-24B0-846F-671B2AFC685C}"/>
              </a:ext>
            </a:extLst>
          </p:cNvPr>
          <p:cNvSpPr/>
          <p:nvPr/>
        </p:nvSpPr>
        <p:spPr>
          <a:xfrm>
            <a:off x="797340" y="1543343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07296AE-3B83-B162-EE8B-DB7FC5C22653}"/>
              </a:ext>
            </a:extLst>
          </p:cNvPr>
          <p:cNvCxnSpPr/>
          <p:nvPr/>
        </p:nvCxnSpPr>
        <p:spPr>
          <a:xfrm>
            <a:off x="618204" y="1101212"/>
            <a:ext cx="111399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382C1D37-6172-BA82-B59C-E1E5E90701A7}"/>
              </a:ext>
            </a:extLst>
          </p:cNvPr>
          <p:cNvSpPr/>
          <p:nvPr/>
        </p:nvSpPr>
        <p:spPr>
          <a:xfrm>
            <a:off x="370554" y="1038361"/>
            <a:ext cx="127819" cy="12570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" name="図 3" descr="グラフィカル ユーザー インターフェイス, テキスト">
            <a:extLst>
              <a:ext uri="{FF2B5EF4-FFF2-40B4-BE49-F238E27FC236}">
                <a16:creationId xmlns:a16="http://schemas.microsoft.com/office/drawing/2014/main" id="{56B7DA80-30E3-2F8B-AE03-972B028B3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178" y="1961433"/>
            <a:ext cx="9000000" cy="447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626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639</Words>
  <Application>Microsoft Office PowerPoint</Application>
  <PresentationFormat>ワイド画面</PresentationFormat>
  <Paragraphs>158</Paragraphs>
  <Slides>27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1" baseType="lpstr">
      <vt:lpstr>游ゴシック</vt:lpstr>
      <vt:lpstr>游ゴシック Light</vt:lpstr>
      <vt:lpstr>Arial</vt:lpstr>
      <vt:lpstr>Office テーマ</vt:lpstr>
      <vt:lpstr>昔ながらの駄菓子屋</vt:lpstr>
      <vt:lpstr>動画の流れ</vt:lpstr>
      <vt:lpstr>駄菓子、食べたことありますか？</vt:lpstr>
      <vt:lpstr>駄菓子の需要</vt:lpstr>
      <vt:lpstr>駄菓子の需要</vt:lpstr>
      <vt:lpstr>駄菓子屋、行ったことありますか？</vt:lpstr>
      <vt:lpstr>駄菓子屋の現状</vt:lpstr>
      <vt:lpstr>駄菓子屋の現状</vt:lpstr>
      <vt:lpstr>レトロブームとは</vt:lpstr>
      <vt:lpstr>駄菓子屋の需要</vt:lpstr>
      <vt:lpstr>駄菓子屋の需要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asuka okubo</dc:creator>
  <cp:lastModifiedBy>敷島宙</cp:lastModifiedBy>
  <cp:revision>37</cp:revision>
  <dcterms:created xsi:type="dcterms:W3CDTF">2024-08-26T04:19:31Z</dcterms:created>
  <dcterms:modified xsi:type="dcterms:W3CDTF">2024-09-09T15:48:42Z</dcterms:modified>
</cp:coreProperties>
</file>