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0" r:id="rId3"/>
    <p:sldId id="259" r:id="rId4"/>
    <p:sldId id="263" r:id="rId5"/>
    <p:sldId id="260" r:id="rId6"/>
    <p:sldId id="262" r:id="rId7"/>
    <p:sldId id="264" r:id="rId8"/>
    <p:sldId id="265" r:id="rId9"/>
    <p:sldId id="266" r:id="rId10"/>
    <p:sldId id="268" r:id="rId11"/>
    <p:sldId id="267" r:id="rId12"/>
    <p:sldId id="269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B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122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98B34B-4B6D-4CD3-8DE4-279333CB4AB8}" type="datetimeFigureOut">
              <a:rPr kumimoji="1" lang="ja-JP" altLang="en-US" smtClean="0"/>
              <a:t>2024/9/6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2DEEF-51BF-4B0F-B040-4029D54F3F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2865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EAF677-9ECD-C63C-6CBC-C966B2188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87BF534-E482-627F-5AA6-BDF891537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4C6614-453C-7531-4336-868315412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D8FC-4DF1-4060-B8C0-58D0D5B19461}" type="datetimeFigureOut">
              <a:rPr kumimoji="1" lang="ja-JP" altLang="en-US" smtClean="0"/>
              <a:t>2024/9/6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C4A5E6-27C7-E1EC-9CA7-4B43F8440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ADF940-A0FA-C02B-2723-F645FCCAE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B2C2-B071-4329-B6A3-42CA5CF9E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2804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DD7DD5-0B97-15E9-FC5D-D44771A36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1D1D90-A711-591E-95D4-790F496FE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2A2A79-079D-71B6-C932-EFEB0E1F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D8FC-4DF1-4060-B8C0-58D0D5B19461}" type="datetimeFigureOut">
              <a:rPr kumimoji="1" lang="ja-JP" altLang="en-US" smtClean="0"/>
              <a:t>2024/9/6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02151F-B724-ADE7-CF10-088BD42C7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C69A2E-4C82-24D4-334A-7CA0BD9C6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B2C2-B071-4329-B6A3-42CA5CF9E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2007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AA1703-CD8A-CA67-43EF-0EFAB3397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4B01F56-3BF8-11A5-4190-036B1C7AE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2F3F6A-A9A2-9441-70B1-18E05BD91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D8FC-4DF1-4060-B8C0-58D0D5B19461}" type="datetimeFigureOut">
              <a:rPr kumimoji="1" lang="ja-JP" altLang="en-US" smtClean="0"/>
              <a:t>2024/9/6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8020D0-7E09-BD1C-3D66-D5B92D9F6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E76AA9-F758-4855-5937-442B4A93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B2C2-B071-4329-B6A3-42CA5CF9E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4479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B79A52-81BD-0894-949D-716C7BEB9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41B5FF-0F5A-78D2-94A4-1BCEBDEB8B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689891F-C4C2-852F-56D2-0E2DEADA2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02627BF-8DFF-5EC7-1B0C-5853DD7ED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D8FC-4DF1-4060-B8C0-58D0D5B19461}" type="datetimeFigureOut">
              <a:rPr kumimoji="1" lang="ja-JP" altLang="en-US" smtClean="0"/>
              <a:t>2024/9/6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6115D9B-ABBD-5EAD-04A5-9EB058E3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D96B6A-5612-9977-9FAA-D30A01A9A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B2C2-B071-4329-B6A3-42CA5CF9E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6494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8ECE4B-A645-7583-DE8F-90A1DA78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7AF894E-3781-9496-F912-903CA6CC7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B472DF-CB2E-11D7-868E-7ED54C4B2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AC51D00-3DF3-A7BE-21E9-4A406CBC9E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3DF05A8-C018-D6D8-F173-665B2EB37B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94736DC-DEFB-5477-7B87-FB3E765B0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D8FC-4DF1-4060-B8C0-58D0D5B19461}" type="datetimeFigureOut">
              <a:rPr kumimoji="1" lang="ja-JP" altLang="en-US" smtClean="0"/>
              <a:t>2024/9/6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FD33276-87B8-056F-641D-DBED17A6A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BC676EA-B794-98B5-A636-4E9C86007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B2C2-B071-4329-B6A3-42CA5CF9E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831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453885-384A-1B1D-3BF9-87CCB99AE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8F0BCA2-AB82-F638-FF75-6C293BF97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D8FC-4DF1-4060-B8C0-58D0D5B19461}" type="datetimeFigureOut">
              <a:rPr kumimoji="1" lang="ja-JP" altLang="en-US" smtClean="0"/>
              <a:t>2024/9/6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CF0BA7F-7D6F-5BD9-1BB5-9AD0F7B55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211D20-B831-8710-A2C6-6A9F64CB1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B2C2-B071-4329-B6A3-42CA5CF9E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1753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5FE2FE5-9883-7C50-ADF1-42D194C1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D8FC-4DF1-4060-B8C0-58D0D5B19461}" type="datetimeFigureOut">
              <a:rPr kumimoji="1" lang="ja-JP" altLang="en-US" smtClean="0"/>
              <a:t>2024/9/6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6DD4E51-6004-2845-789D-EFE081452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6996F6E-F94B-7A17-A5DF-50ECC81B0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B2C2-B071-4329-B6A3-42CA5CF9E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14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8CFF30-46CD-1C14-0985-E05E8D448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79E641-298C-8BA9-ADA1-86661D9B2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99BAF10-1DF8-C491-437A-5A3998B22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D9AEC70-1BC1-555C-8F51-84A8BD60C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D8FC-4DF1-4060-B8C0-58D0D5B19461}" type="datetimeFigureOut">
              <a:rPr kumimoji="1" lang="ja-JP" altLang="en-US" smtClean="0"/>
              <a:t>2024/9/6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EC2C676-CCF6-72B5-F035-019F4844A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EBE715C-818B-5816-499E-F3A3AE83B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B2C2-B071-4329-B6A3-42CA5CF9E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421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57FDDB-2423-D06F-1DFB-B1276882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1CC7DBF-C29B-D100-D7C0-0FDA9CC7CF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C0EA56C-B658-EFF4-D28E-CC60DF2D94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1EE2C90-FCDA-A534-1D2A-5AE8679DA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D8FC-4DF1-4060-B8C0-58D0D5B19461}" type="datetimeFigureOut">
              <a:rPr kumimoji="1" lang="ja-JP" altLang="en-US" smtClean="0"/>
              <a:t>2024/9/6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979FCF9-28CD-3E38-61AF-079DD813A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35BE168-5DAD-AAE5-4AFE-5E2845D59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B2C2-B071-4329-B6A3-42CA5CF9E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173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69B47C-4750-435B-C391-89D89E689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FF8590B-87ED-E753-7856-D00BF863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8C920A-AF5B-EC6C-5210-3FA4AFE07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D8FC-4DF1-4060-B8C0-58D0D5B19461}" type="datetimeFigureOut">
              <a:rPr kumimoji="1" lang="ja-JP" altLang="en-US" smtClean="0"/>
              <a:t>2024/9/6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13F525-179D-5AF6-3429-009691BAD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0A2543-DDBC-A933-842A-3CE9C529F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B2C2-B071-4329-B6A3-42CA5CF9E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4380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B5AE785-C853-A93E-C7BF-8AD8ADAB6F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318BA4D-CDDB-945E-4B01-25F4FD813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CA6C5E-6B78-40FB-0724-EFB1D2DA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D8FC-4DF1-4060-B8C0-58D0D5B19461}" type="datetimeFigureOut">
              <a:rPr kumimoji="1" lang="ja-JP" altLang="en-US" smtClean="0"/>
              <a:t>2024/9/6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8CE3F5-7FEE-0F28-34E0-647B4D34F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4987E8-E000-FDD5-141F-DF14A22F7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B2C2-B071-4329-B6A3-42CA5CF9E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8213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47817FC-7F29-C2B3-6AB8-BF2EA191E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784F30-B646-E475-5DE3-E89091E85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804795-B8D3-21AF-D231-80E995FC4D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AED8FC-4DF1-4060-B8C0-58D0D5B19461}" type="datetimeFigureOut">
              <a:rPr kumimoji="1" lang="ja-JP" altLang="en-US" smtClean="0"/>
              <a:t>2024/9/6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72B996-6E00-9E00-2F24-B9A44BF6A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DB6AF9-8D30-E3F0-3FFF-A79BF65E0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26B2C2-B071-4329-B6A3-42CA5CF9E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5653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531198-918E-AD6A-577D-11034C8433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昔ながらの駄菓子屋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B621D4C-DD90-937D-AED7-A1D120FA86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HAL</a:t>
            </a:r>
            <a:r>
              <a:rPr kumimoji="1" lang="ja-JP" altLang="en-US" dirty="0"/>
              <a:t>東京</a:t>
            </a:r>
            <a:r>
              <a:rPr kumimoji="1" lang="en-US" altLang="ja-JP" dirty="0"/>
              <a:t>4</a:t>
            </a:r>
            <a:r>
              <a:rPr kumimoji="1" lang="ja-JP" altLang="en-US" dirty="0"/>
              <a:t>年制</a:t>
            </a:r>
            <a:r>
              <a:rPr kumimoji="1" lang="en-US" altLang="ja-JP" dirty="0"/>
              <a:t>2</a:t>
            </a:r>
            <a:r>
              <a:rPr kumimoji="1" lang="ja-JP" altLang="en-US" dirty="0"/>
              <a:t>年</a:t>
            </a:r>
            <a:endParaRPr kumimoji="1" lang="en-US" altLang="ja-JP" dirty="0"/>
          </a:p>
          <a:p>
            <a:r>
              <a:rPr kumimoji="1" lang="ja-JP" altLang="en-US" dirty="0"/>
              <a:t>テルルグループ</a:t>
            </a:r>
            <a:endParaRPr kumimoji="1" lang="en-US" altLang="ja-JP" dirty="0"/>
          </a:p>
          <a:p>
            <a:r>
              <a:rPr kumimoji="1" lang="ja-JP" altLang="en-US" dirty="0"/>
              <a:t>敷島　中村</a:t>
            </a:r>
            <a:r>
              <a:rPr lang="ja-JP" altLang="en-US" dirty="0"/>
              <a:t>　大窪　河原井　小野　下地　吉岡　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756784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8054F9-148D-FAC3-0220-1E443DA71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動画の流れ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1B7CF4-99E8-8912-EFAA-F61DBD141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企画</a:t>
            </a:r>
            <a:endParaRPr kumimoji="1" lang="en-US" altLang="ja-JP" dirty="0"/>
          </a:p>
          <a:p>
            <a:pPr lvl="1"/>
            <a:r>
              <a:rPr lang="ja-JP" altLang="en-US" dirty="0"/>
              <a:t>テーマ</a:t>
            </a:r>
            <a:endParaRPr lang="en-US" altLang="ja-JP" dirty="0"/>
          </a:p>
          <a:p>
            <a:pPr lvl="1"/>
            <a:r>
              <a:rPr kumimoji="1" lang="ja-JP" altLang="en-US" dirty="0"/>
              <a:t>商品</a:t>
            </a:r>
            <a:endParaRPr kumimoji="1" lang="en-US" altLang="ja-JP" dirty="0"/>
          </a:p>
          <a:p>
            <a:pPr lvl="1"/>
            <a:r>
              <a:rPr lang="ja-JP" altLang="en-US" dirty="0"/>
              <a:t>理由</a:t>
            </a:r>
            <a:endParaRPr lang="en-US" altLang="ja-JP" dirty="0"/>
          </a:p>
          <a:p>
            <a:r>
              <a:rPr lang="ja-JP" altLang="en-US" dirty="0"/>
              <a:t>企画概要</a:t>
            </a:r>
            <a:endParaRPr lang="en-US" altLang="ja-JP" dirty="0"/>
          </a:p>
          <a:p>
            <a:pPr lvl="1"/>
            <a:r>
              <a:rPr lang="ja-JP" altLang="en-US" dirty="0"/>
              <a:t>ターゲット</a:t>
            </a:r>
            <a:endParaRPr lang="en-US" altLang="ja-JP" dirty="0"/>
          </a:p>
          <a:p>
            <a:pPr lvl="1"/>
            <a:r>
              <a:rPr lang="ja-JP" altLang="en-US" dirty="0"/>
              <a:t>特徴</a:t>
            </a:r>
            <a:endParaRPr lang="en-US" altLang="ja-JP" dirty="0"/>
          </a:p>
          <a:p>
            <a:r>
              <a:rPr lang="ja-JP" altLang="en-US" dirty="0"/>
              <a:t>モックアップ</a:t>
            </a:r>
            <a:endParaRPr lang="en-US" altLang="ja-JP" dirty="0"/>
          </a:p>
          <a:p>
            <a:pPr lvl="1"/>
            <a:r>
              <a:rPr lang="ja-JP" altLang="en-US" dirty="0"/>
              <a:t>動画にて紹介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88036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C19C32-BFA5-2E2B-6CB5-EBE37BB96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駄菓子、食べたことありますか？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26242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70014D-59AD-30D3-A5AC-891C0437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駄菓子の需要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130AE1-2D1A-3EDC-1287-03DF54609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駄菓子生産量</a:t>
            </a:r>
            <a:endParaRPr kumimoji="1" lang="en-US" altLang="ja-JP" dirty="0"/>
          </a:p>
          <a:p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lvl="1"/>
            <a:endParaRPr kumimoji="1" lang="en-US" altLang="ja-JP" dirty="0"/>
          </a:p>
          <a:p>
            <a:r>
              <a:rPr lang="ja-JP" altLang="en-US" dirty="0"/>
              <a:t>国外への輸出量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pPr>
              <a:buFont typeface="Wingdings" panose="05000000000000000000" pitchFamily="2" charset="2"/>
              <a:buChar char="Ø"/>
            </a:pPr>
            <a:r>
              <a:rPr lang="ja-JP" altLang="en-US" dirty="0"/>
              <a:t>駄菓子には需要がある！</a:t>
            </a:r>
            <a:endParaRPr lang="en-US" altLang="ja-JP" dirty="0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010D55D8-DA0B-80B4-9BA1-8EA4F065EE5B}"/>
              </a:ext>
            </a:extLst>
          </p:cNvPr>
          <p:cNvGrpSpPr>
            <a:grpSpLocks/>
          </p:cNvGrpSpPr>
          <p:nvPr/>
        </p:nvGrpSpPr>
        <p:grpSpPr>
          <a:xfrm>
            <a:off x="1358899" y="2505075"/>
            <a:ext cx="5273675" cy="923925"/>
            <a:chOff x="1838325" y="1323975"/>
            <a:chExt cx="6496050" cy="1219200"/>
          </a:xfrm>
        </p:grpSpPr>
        <p:pic>
          <p:nvPicPr>
            <p:cNvPr id="5" name="図 4" descr="テーブル">
              <a:extLst>
                <a:ext uri="{FF2B5EF4-FFF2-40B4-BE49-F238E27FC236}">
                  <a16:creationId xmlns:a16="http://schemas.microsoft.com/office/drawing/2014/main" id="{DFC6FD67-E252-C2A3-7767-F30527D87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8325" y="1323975"/>
              <a:ext cx="6496050" cy="12192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B16A5051-3828-3207-1622-57809B2526C6}"/>
                </a:ext>
              </a:extLst>
            </p:cNvPr>
            <p:cNvSpPr>
              <a:spLocks/>
            </p:cNvSpPr>
            <p:nvPr/>
          </p:nvSpPr>
          <p:spPr>
            <a:xfrm>
              <a:off x="2647950" y="2101850"/>
              <a:ext cx="5645150" cy="2095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CFE7A500-BB0C-049C-71F7-E902664A3513}"/>
              </a:ext>
            </a:extLst>
          </p:cNvPr>
          <p:cNvGrpSpPr/>
          <p:nvPr/>
        </p:nvGrpSpPr>
        <p:grpSpPr>
          <a:xfrm>
            <a:off x="7153273" y="1147763"/>
            <a:ext cx="3454503" cy="2984117"/>
            <a:chOff x="6961694" y="1690688"/>
            <a:chExt cx="3454503" cy="2984117"/>
          </a:xfrm>
        </p:grpSpPr>
        <p:pic>
          <p:nvPicPr>
            <p:cNvPr id="9" name="図 8" descr="テーブル">
              <a:extLst>
                <a:ext uri="{FF2B5EF4-FFF2-40B4-BE49-F238E27FC236}">
                  <a16:creationId xmlns:a16="http://schemas.microsoft.com/office/drawing/2014/main" id="{01CCF520-1898-9B63-3591-6E22FF1A8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1694" y="1690688"/>
              <a:ext cx="1433006" cy="2984117"/>
            </a:xfrm>
            <a:prstGeom prst="rect">
              <a:avLst/>
            </a:prstGeom>
          </p:spPr>
        </p:pic>
        <p:pic>
          <p:nvPicPr>
            <p:cNvPr id="11" name="図 10" descr="テーブル&#10;&#10;中程度の精度で自動的に生成された説明">
              <a:extLst>
                <a:ext uri="{FF2B5EF4-FFF2-40B4-BE49-F238E27FC236}">
                  <a16:creationId xmlns:a16="http://schemas.microsoft.com/office/drawing/2014/main" id="{561946CA-BAA6-933E-FDA8-55011CE84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77160" y="1690688"/>
              <a:ext cx="1639037" cy="2984117"/>
            </a:xfrm>
            <a:prstGeom prst="rect">
              <a:avLst/>
            </a:prstGeom>
          </p:spPr>
        </p:pic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E9DA640C-7C34-1A02-A40A-B4A6475ECFE4}"/>
                </a:ext>
              </a:extLst>
            </p:cNvPr>
            <p:cNvSpPr/>
            <p:nvPr/>
          </p:nvSpPr>
          <p:spPr>
            <a:xfrm>
              <a:off x="7329488" y="3462338"/>
              <a:ext cx="1065212" cy="1143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D190376F-6E57-0F74-5AE0-CB70C45BB0BA}"/>
                </a:ext>
              </a:extLst>
            </p:cNvPr>
            <p:cNvSpPr/>
            <p:nvPr/>
          </p:nvSpPr>
          <p:spPr>
            <a:xfrm>
              <a:off x="7312215" y="4213417"/>
              <a:ext cx="1065212" cy="1143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411596B-E9B0-8F3F-C504-BCAB87576DAE}"/>
              </a:ext>
            </a:extLst>
          </p:cNvPr>
          <p:cNvSpPr txBox="1"/>
          <p:nvPr/>
        </p:nvSpPr>
        <p:spPr>
          <a:xfrm>
            <a:off x="4086225" y="3495676"/>
            <a:ext cx="26842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令和</a:t>
            </a:r>
            <a:r>
              <a:rPr kumimoji="1" lang="en-US" altLang="ja-JP" sz="1000" dirty="0"/>
              <a:t>3</a:t>
            </a:r>
            <a:r>
              <a:rPr kumimoji="1" lang="ja-JP" altLang="en-US" sz="1000" dirty="0"/>
              <a:t>～</a:t>
            </a:r>
            <a:r>
              <a:rPr kumimoji="1" lang="en-US" altLang="ja-JP" sz="1000" dirty="0"/>
              <a:t>5</a:t>
            </a:r>
            <a:r>
              <a:rPr kumimoji="1" lang="ja-JP" altLang="en-US" sz="1000" dirty="0"/>
              <a:t>年　菓子生産量及び菓子生産金額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F9798D2-B8D2-D77E-4526-03773C28B9F8}"/>
              </a:ext>
            </a:extLst>
          </p:cNvPr>
          <p:cNvSpPr txBox="1"/>
          <p:nvPr/>
        </p:nvSpPr>
        <p:spPr>
          <a:xfrm>
            <a:off x="7521067" y="4266817"/>
            <a:ext cx="2798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図</a:t>
            </a:r>
            <a:r>
              <a:rPr kumimoji="1" lang="en-US" altLang="ja-JP" sz="1000" dirty="0"/>
              <a:t>2</a:t>
            </a:r>
            <a:r>
              <a:rPr kumimoji="1" lang="ja-JP" altLang="en-US" sz="1000" dirty="0"/>
              <a:t>　令和</a:t>
            </a:r>
            <a:r>
              <a:rPr kumimoji="1" lang="en-US" altLang="ja-JP" sz="1000" dirty="0"/>
              <a:t>5</a:t>
            </a:r>
            <a:r>
              <a:rPr kumimoji="1" lang="ja-JP" altLang="en-US" sz="1000" dirty="0"/>
              <a:t>年　世帯月別菓子支出額</a:t>
            </a:r>
            <a:endParaRPr kumimoji="1" lang="en-US" altLang="ja-JP" sz="1000" dirty="0"/>
          </a:p>
          <a:p>
            <a:r>
              <a:rPr kumimoji="1" lang="ja-JP" altLang="en-US" sz="1000" dirty="0"/>
              <a:t>図</a:t>
            </a:r>
            <a:r>
              <a:rPr lang="en-US" altLang="ja-JP" sz="1000" dirty="0"/>
              <a:t>3</a:t>
            </a:r>
            <a:r>
              <a:rPr kumimoji="1" lang="ja-JP" altLang="en-US" sz="1000" dirty="0"/>
              <a:t>　令和</a:t>
            </a:r>
            <a:r>
              <a:rPr kumimoji="1" lang="en-US" altLang="ja-JP" sz="1000" dirty="0"/>
              <a:t>5</a:t>
            </a:r>
            <a:r>
              <a:rPr kumimoji="1" lang="ja-JP" altLang="en-US" sz="1000" dirty="0"/>
              <a:t>年　世帯月別菓子支出額</a:t>
            </a:r>
            <a:r>
              <a:rPr lang="ja-JP" altLang="en-US" sz="1000" dirty="0"/>
              <a:t>増減率</a:t>
            </a:r>
            <a:endParaRPr kumimoji="1" lang="en-US" altLang="ja-JP" sz="10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03E4809-6DF0-25E8-395F-DC68F55322EC}"/>
              </a:ext>
            </a:extLst>
          </p:cNvPr>
          <p:cNvSpPr txBox="1"/>
          <p:nvPr/>
        </p:nvSpPr>
        <p:spPr>
          <a:xfrm>
            <a:off x="1358899" y="2258854"/>
            <a:ext cx="4513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図</a:t>
            </a:r>
            <a:r>
              <a:rPr kumimoji="1" lang="en-US" altLang="ja-JP" sz="1000" dirty="0"/>
              <a:t>1</a:t>
            </a:r>
            <a:endParaRPr kumimoji="1" lang="ja-JP" altLang="en-US" sz="10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EAE67DD-12DC-A04C-D26C-6A65BD144D6C}"/>
              </a:ext>
            </a:extLst>
          </p:cNvPr>
          <p:cNvSpPr txBox="1"/>
          <p:nvPr/>
        </p:nvSpPr>
        <p:spPr>
          <a:xfrm>
            <a:off x="8956291" y="830931"/>
            <a:ext cx="4513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図</a:t>
            </a:r>
            <a:r>
              <a:rPr lang="en-US" altLang="ja-JP" sz="1000" dirty="0"/>
              <a:t>3</a:t>
            </a:r>
            <a:endParaRPr kumimoji="1" lang="ja-JP" altLang="en-US" sz="10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56FADBE-5155-DAA4-7DE6-C563EB601CFE}"/>
              </a:ext>
            </a:extLst>
          </p:cNvPr>
          <p:cNvSpPr txBox="1"/>
          <p:nvPr/>
        </p:nvSpPr>
        <p:spPr>
          <a:xfrm>
            <a:off x="7153273" y="839742"/>
            <a:ext cx="4513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図</a:t>
            </a:r>
            <a:r>
              <a:rPr lang="en-US" altLang="ja-JP" sz="1000" dirty="0"/>
              <a:t>2</a:t>
            </a:r>
            <a:endParaRPr kumimoji="1" lang="ja-JP" altLang="en-US" sz="1000" dirty="0"/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E2CAAA0F-8EFD-2740-A779-4661EF0795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39" t="5164" b="1649"/>
          <a:stretch/>
        </p:blipFill>
        <p:spPr>
          <a:xfrm>
            <a:off x="1358545" y="4330466"/>
            <a:ext cx="5556993" cy="56174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EE50D00-1A8A-6FD6-D296-A76F0C6B53FF}"/>
              </a:ext>
            </a:extLst>
          </p:cNvPr>
          <p:cNvSpPr>
            <a:spLocks/>
          </p:cNvSpPr>
          <p:nvPr/>
        </p:nvSpPr>
        <p:spPr>
          <a:xfrm>
            <a:off x="2013280" y="4726545"/>
            <a:ext cx="4902258" cy="1656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BC672B8-B497-1048-3741-256F1A367E9C}"/>
              </a:ext>
            </a:extLst>
          </p:cNvPr>
          <p:cNvSpPr txBox="1"/>
          <p:nvPr/>
        </p:nvSpPr>
        <p:spPr>
          <a:xfrm>
            <a:off x="1358545" y="4053049"/>
            <a:ext cx="4513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図</a:t>
            </a:r>
            <a:r>
              <a:rPr lang="en-US" altLang="ja-JP" sz="1000" dirty="0"/>
              <a:t>4</a:t>
            </a:r>
            <a:endParaRPr kumimoji="1" lang="ja-JP" altLang="en-US" sz="10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AD69F54-80E4-1679-AA6A-BDB325783F87}"/>
              </a:ext>
            </a:extLst>
          </p:cNvPr>
          <p:cNvSpPr txBox="1"/>
          <p:nvPr/>
        </p:nvSpPr>
        <p:spPr>
          <a:xfrm>
            <a:off x="4652925" y="4923409"/>
            <a:ext cx="22626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令和</a:t>
            </a:r>
            <a:r>
              <a:rPr kumimoji="1" lang="en-US" altLang="ja-JP" sz="1000" dirty="0"/>
              <a:t>3</a:t>
            </a:r>
            <a:r>
              <a:rPr kumimoji="1" lang="ja-JP" altLang="en-US" sz="1000" dirty="0"/>
              <a:t>～</a:t>
            </a:r>
            <a:r>
              <a:rPr kumimoji="1" lang="en-US" altLang="ja-JP" sz="1000" dirty="0"/>
              <a:t>5</a:t>
            </a:r>
            <a:r>
              <a:rPr kumimoji="1" lang="ja-JP" altLang="en-US" sz="1000" dirty="0"/>
              <a:t>年　菓子輸出通関実績推移</a:t>
            </a:r>
          </a:p>
        </p:txBody>
      </p:sp>
    </p:spTree>
    <p:extLst>
      <p:ext uri="{BB962C8B-B14F-4D97-AF65-F5344CB8AC3E}">
        <p14:creationId xmlns:p14="http://schemas.microsoft.com/office/powerpoint/2010/main" val="3288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C19C32-BFA5-2E2B-6CB5-EBE37BB96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駄菓子屋、行ったことありますか？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37657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A243D3-457D-C720-3021-5D184C709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駄菓子屋の現状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A00BB4-D34D-0B99-4DFC-7403D03DC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近年、店舗数が急激に減少</a:t>
            </a:r>
            <a:endParaRPr lang="en-US" altLang="ja-JP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ja-JP" altLang="en-US" dirty="0"/>
              <a:t>コンビニやスーパーマーケットの普及</a:t>
            </a:r>
            <a:endParaRPr lang="en-US" altLang="ja-JP" dirty="0"/>
          </a:p>
          <a:p>
            <a:pPr lvl="1">
              <a:buFont typeface="Wingdings" panose="05000000000000000000" pitchFamily="2" charset="2"/>
              <a:buChar char="Ø"/>
            </a:pPr>
            <a:r>
              <a:rPr kumimoji="1" lang="ja-JP" altLang="en-US" dirty="0"/>
              <a:t>少子高齢化</a:t>
            </a:r>
            <a:endParaRPr kumimoji="1" lang="en-US" altLang="ja-JP" dirty="0"/>
          </a:p>
          <a:p>
            <a:pPr lvl="1">
              <a:buFont typeface="Wingdings" panose="05000000000000000000" pitchFamily="2" charset="2"/>
              <a:buChar char="Ø"/>
            </a:pPr>
            <a:endParaRPr kumimoji="1" lang="en-US" altLang="ja-JP" dirty="0"/>
          </a:p>
          <a:p>
            <a:r>
              <a:rPr kumimoji="1" lang="ja-JP" altLang="en-US" dirty="0"/>
              <a:t>高級菓子店やスイーツ店に変容</a:t>
            </a:r>
            <a:endParaRPr kumimoji="1" lang="en-US" altLang="ja-JP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ja-JP" altLang="en-US" dirty="0"/>
              <a:t>生存戦略</a:t>
            </a:r>
            <a:endParaRPr lang="en-US" altLang="ja-JP" dirty="0"/>
          </a:p>
          <a:p>
            <a:pPr>
              <a:buFont typeface="Wingdings" panose="05000000000000000000" pitchFamily="2" charset="2"/>
              <a:buChar char="Ø"/>
            </a:pPr>
            <a:endParaRPr lang="en-US" altLang="ja-JP" dirty="0"/>
          </a:p>
          <a:p>
            <a:pPr>
              <a:buFont typeface="Wingdings" panose="05000000000000000000" pitchFamily="2" charset="2"/>
              <a:buChar char="Ø"/>
            </a:pPr>
            <a:r>
              <a:rPr lang="ja-JP" altLang="en-US" dirty="0"/>
              <a:t>駄菓子屋には需要がない？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615509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BFD5C3-729B-55FA-C23F-06C26D77B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レトロブームとは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FC46BE-9F96-D88A-797D-DA3C2F7CB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過去に流行したアイテムや文化を現代の若者が新しいと感じ、再発信することで起こるブームのこと。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近年</a:t>
            </a:r>
            <a:r>
              <a:rPr kumimoji="1" lang="ja-JP" altLang="en-US" dirty="0"/>
              <a:t>では、「昭和レトロ」と呼ばれ、</a:t>
            </a:r>
            <a:r>
              <a:rPr kumimoji="1" lang="en-US" altLang="ja-JP" dirty="0"/>
              <a:t>Instagram</a:t>
            </a:r>
            <a:r>
              <a:rPr kumimoji="1" lang="ja-JP" altLang="en-US" dirty="0"/>
              <a:t>や</a:t>
            </a:r>
            <a:r>
              <a:rPr kumimoji="1" lang="en-US" altLang="ja-JP" dirty="0"/>
              <a:t>X</a:t>
            </a:r>
            <a:r>
              <a:rPr kumimoji="1" lang="ja-JP" altLang="en-US" dirty="0"/>
              <a:t>などで、さまざま「昭和なもの」が楽しまれている。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駄菓子屋は「昭和なもの」の一つと言える。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756463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CAE65B-14D5-F376-830F-0ECB9B047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駄菓子屋の需要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132D17-EB9D-1F11-267C-E0AAD4034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駄菓子屋のミニチュアモデルの存在</a:t>
            </a:r>
            <a:endParaRPr kumimoji="1" lang="en-US" altLang="ja-JP" dirty="0"/>
          </a:p>
          <a:p>
            <a:pPr lvl="1"/>
            <a:r>
              <a:rPr lang="en-US" altLang="ja-JP" dirty="0"/>
              <a:t>Z</a:t>
            </a:r>
            <a:r>
              <a:rPr lang="ja-JP" altLang="en-US" dirty="0"/>
              <a:t>世代の女性に人気</a:t>
            </a:r>
            <a:endParaRPr lang="en-US" altLang="ja-JP" dirty="0"/>
          </a:p>
          <a:p>
            <a:pPr lvl="1">
              <a:buFont typeface="Wingdings" panose="05000000000000000000" pitchFamily="2" charset="2"/>
              <a:buChar char="Ø"/>
            </a:pPr>
            <a:r>
              <a:rPr kumimoji="1" lang="ja-JP" altLang="en-US" dirty="0"/>
              <a:t>レトロな雰囲気</a:t>
            </a:r>
            <a:endParaRPr kumimoji="1" lang="en-US" altLang="ja-JP" dirty="0"/>
          </a:p>
          <a:p>
            <a:pPr lvl="1">
              <a:buFont typeface="Wingdings" panose="05000000000000000000" pitchFamily="2" charset="2"/>
              <a:buChar char="Ø"/>
            </a:pPr>
            <a:r>
              <a:rPr kumimoji="1" lang="ja-JP" altLang="en-US" dirty="0"/>
              <a:t>細部までこだわった再現性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pPr>
              <a:buFont typeface="Wingdings" panose="05000000000000000000" pitchFamily="2" charset="2"/>
              <a:buChar char="Ø"/>
            </a:pPr>
            <a:r>
              <a:rPr lang="ja-JP" altLang="en-US" dirty="0"/>
              <a:t>駄菓子屋の「レトロ」な部分に需要がある！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</p:txBody>
      </p:sp>
      <p:pic>
        <p:nvPicPr>
          <p:cNvPr id="7" name="図 6" descr="建物, 座る, 本, テーブル が含まれている画像&#10;&#10;自動的に生成された説明">
            <a:extLst>
              <a:ext uri="{FF2B5EF4-FFF2-40B4-BE49-F238E27FC236}">
                <a16:creationId xmlns:a16="http://schemas.microsoft.com/office/drawing/2014/main" id="{8F869636-359D-94A0-8D58-29F42B5AC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299" y="1014413"/>
            <a:ext cx="2781300" cy="2085975"/>
          </a:xfrm>
          <a:prstGeom prst="rect">
            <a:avLst/>
          </a:prstGeom>
        </p:spPr>
      </p:pic>
      <p:pic>
        <p:nvPicPr>
          <p:cNvPr id="9" name="図 8" descr="屋外, 草, 道路, 建物 が含まれている画像&#10;&#10;自動的に生成された説明">
            <a:extLst>
              <a:ext uri="{FF2B5EF4-FFF2-40B4-BE49-F238E27FC236}">
                <a16:creationId xmlns:a16="http://schemas.microsoft.com/office/drawing/2014/main" id="{60E17D6A-28CC-5E56-B4C0-84DB445E62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6949" y="3525837"/>
            <a:ext cx="3090333" cy="231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236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B76C99-BCED-7F3C-F9FD-4710DD840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企画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4797B6-75F8-E121-8C11-BF00F3828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テーマ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昔ながらの駄菓子屋</a:t>
            </a:r>
            <a:endParaRPr lang="en-US" altLang="ja-JP" dirty="0"/>
          </a:p>
          <a:p>
            <a:r>
              <a:rPr kumimoji="1" lang="ja-JP" altLang="en-US" dirty="0"/>
              <a:t>商品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駄菓子</a:t>
            </a:r>
            <a:endParaRPr lang="en-US" altLang="ja-JP" dirty="0"/>
          </a:p>
          <a:p>
            <a:r>
              <a:rPr kumimoji="1" lang="ja-JP" altLang="en-US" dirty="0"/>
              <a:t>理由</a:t>
            </a:r>
            <a:endParaRPr kumimoji="1" lang="en-US" altLang="ja-JP" dirty="0"/>
          </a:p>
          <a:p>
            <a:pPr lvl="1"/>
            <a:r>
              <a:rPr lang="ja-JP" altLang="en-US" dirty="0"/>
              <a:t>駄菓子の需要が高い</a:t>
            </a:r>
            <a:endParaRPr lang="en-US" altLang="ja-JP" dirty="0"/>
          </a:p>
          <a:p>
            <a:pPr lvl="1"/>
            <a:r>
              <a:rPr lang="ja-JP" altLang="en-US" dirty="0"/>
              <a:t>駄菓子屋の「レトロ」な部分にも需要がある</a:t>
            </a:r>
            <a:endParaRPr lang="en-US" altLang="ja-JP" dirty="0"/>
          </a:p>
          <a:p>
            <a:pPr lvl="1">
              <a:buFont typeface="Wingdings" panose="05000000000000000000" pitchFamily="2" charset="2"/>
              <a:buChar char="Ø"/>
            </a:pPr>
            <a:endParaRPr lang="en-US" altLang="ja-JP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ja-JP" altLang="en-US" dirty="0"/>
              <a:t>「レトロマーケティング」が行える！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40578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A5EEEE-8803-1C1F-B985-B77023B54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ターゲット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628896-F7CA-428B-9A2A-6E8FF3CE4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子供（</a:t>
            </a:r>
            <a:r>
              <a:rPr lang="ja-JP" altLang="en-US" dirty="0"/>
              <a:t>小学生前後</a:t>
            </a:r>
            <a:r>
              <a:rPr kumimoji="1" lang="ja-JP" altLang="en-US" dirty="0"/>
              <a:t>）を持つ家庭</a:t>
            </a:r>
            <a:endParaRPr kumimoji="1" lang="en-US" altLang="ja-JP" dirty="0"/>
          </a:p>
          <a:p>
            <a:pPr lvl="1"/>
            <a:r>
              <a:rPr lang="ja-JP" altLang="en-US" dirty="0"/>
              <a:t>駄菓子屋と言えば子供が集まる場所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親世代は駄菓子屋に通っていた世代</a:t>
            </a:r>
            <a:endParaRPr kumimoji="1" lang="en-US" altLang="ja-JP" dirty="0"/>
          </a:p>
          <a:p>
            <a:pPr lvl="1">
              <a:buFont typeface="Wingdings" panose="05000000000000000000" pitchFamily="2" charset="2"/>
              <a:buChar char="Ø"/>
            </a:pPr>
            <a:r>
              <a:rPr kumimoji="1" lang="ja-JP" altLang="en-US" dirty="0"/>
              <a:t>スマホ対応をすることで子供だけでも利用可能に</a:t>
            </a:r>
            <a:endParaRPr kumimoji="1" lang="en-US" altLang="ja-JP" dirty="0"/>
          </a:p>
          <a:p>
            <a:pPr lvl="1">
              <a:buFont typeface="Wingdings" panose="05000000000000000000" pitchFamily="2" charset="2"/>
              <a:buChar char="Ø"/>
            </a:pPr>
            <a:endParaRPr kumimoji="1" lang="en-US" altLang="ja-JP" dirty="0"/>
          </a:p>
          <a:p>
            <a:r>
              <a:rPr lang="ja-JP" altLang="en-US" dirty="0"/>
              <a:t>海外の方</a:t>
            </a:r>
            <a:endParaRPr lang="en-US" altLang="ja-JP" dirty="0"/>
          </a:p>
          <a:p>
            <a:pPr lvl="1"/>
            <a:r>
              <a:rPr lang="ja-JP" altLang="en-US" dirty="0"/>
              <a:t>国外への輸出量が近年増加傾向にある</a:t>
            </a:r>
            <a:endParaRPr lang="en-US" altLang="ja-JP" dirty="0"/>
          </a:p>
          <a:p>
            <a:pPr lvl="1"/>
            <a:r>
              <a:rPr lang="ja-JP" altLang="en-US" dirty="0"/>
              <a:t>日本らしさを知ってもらいたい</a:t>
            </a:r>
            <a:endParaRPr lang="en-US" altLang="ja-JP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ja-JP" altLang="en-US" dirty="0"/>
              <a:t>多言語に対応させる</a:t>
            </a:r>
            <a:endParaRPr lang="en-US" altLang="ja-JP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ja-JP" altLang="en-US" dirty="0"/>
              <a:t>商品の詳細を掲載する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723541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81D2E2-231F-CDBD-93C3-00BC28DFD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イマーシブ性（</a:t>
            </a:r>
            <a:r>
              <a:rPr kumimoji="1" lang="ja-JP" altLang="en-US" dirty="0"/>
              <a:t>没入感）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B4857A-60A9-6378-D2A7-FCBB3663B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意味</a:t>
            </a:r>
            <a:endParaRPr lang="en-US" altLang="ja-JP" dirty="0"/>
          </a:p>
          <a:p>
            <a:pPr lvl="1"/>
            <a:r>
              <a:rPr lang="en-US" altLang="ja-JP" dirty="0"/>
              <a:t>VR</a:t>
            </a:r>
            <a:r>
              <a:rPr lang="ja-JP" altLang="en-US" dirty="0"/>
              <a:t>や</a:t>
            </a:r>
            <a:r>
              <a:rPr lang="en-US" altLang="ja-JP" dirty="0"/>
              <a:t>AR</a:t>
            </a:r>
            <a:r>
              <a:rPr lang="ja-JP" altLang="en-US" dirty="0"/>
              <a:t>などの拡張現実のことではなく、一室四面の脱出ゲームのような操作感のことを指しています。</a:t>
            </a:r>
            <a:endParaRPr lang="en-US" altLang="ja-JP" dirty="0"/>
          </a:p>
          <a:p>
            <a:pPr lvl="1"/>
            <a:endParaRPr lang="en-US" altLang="ja-JP" dirty="0"/>
          </a:p>
          <a:p>
            <a:r>
              <a:rPr lang="ja-JP" altLang="en-US" dirty="0"/>
              <a:t>目的</a:t>
            </a:r>
            <a:endParaRPr lang="en-US" altLang="ja-JP" dirty="0"/>
          </a:p>
          <a:p>
            <a:pPr lvl="1"/>
            <a:r>
              <a:rPr kumimoji="1" lang="ja-JP" altLang="en-US" dirty="0"/>
              <a:t>ゲームのように駄菓子屋にいることを体感してもらうこと。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懐かしく新しいを感じてもらうこと。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4982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F2873A-C1E7-7280-EBDB-56837A9D4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企画概要</a:t>
            </a:r>
            <a:r>
              <a:rPr kumimoji="1" lang="en-US" altLang="ja-JP" dirty="0"/>
              <a:t>	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550206-BD0A-F42A-F3BB-9E1E3A23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ターゲット</a:t>
            </a:r>
            <a:endParaRPr kumimoji="1" lang="en-US" altLang="ja-JP" dirty="0"/>
          </a:p>
          <a:p>
            <a:pPr lvl="1"/>
            <a:r>
              <a:rPr lang="ja-JP" altLang="en-US" dirty="0"/>
              <a:t>子供（小学生前後）を持つ家庭</a:t>
            </a:r>
            <a:endParaRPr lang="en-US" altLang="ja-JP" dirty="0"/>
          </a:p>
          <a:p>
            <a:pPr lvl="1"/>
            <a:r>
              <a:rPr kumimoji="1" lang="ja-JP" altLang="en-US" dirty="0"/>
              <a:t>海外の</a:t>
            </a:r>
            <a:r>
              <a:rPr lang="ja-JP" altLang="en-US" dirty="0"/>
              <a:t>方</a:t>
            </a:r>
            <a:endParaRPr lang="en-US" altLang="ja-JP" dirty="0"/>
          </a:p>
          <a:p>
            <a:r>
              <a:rPr kumimoji="1" lang="ja-JP" altLang="en-US" dirty="0"/>
              <a:t>特徴</a:t>
            </a:r>
            <a:endParaRPr kumimoji="1" lang="en-US" altLang="ja-JP" dirty="0"/>
          </a:p>
          <a:p>
            <a:pPr lvl="1"/>
            <a:r>
              <a:rPr lang="ja-JP" altLang="en-US" dirty="0"/>
              <a:t>イマーシブ性</a:t>
            </a:r>
            <a:endParaRPr lang="en-US" altLang="ja-JP" dirty="0"/>
          </a:p>
          <a:p>
            <a:pPr lvl="1"/>
            <a:r>
              <a:rPr lang="ja-JP" altLang="en-US" dirty="0"/>
              <a:t>レスポンシブ対応</a:t>
            </a:r>
            <a:endParaRPr lang="en-US" altLang="ja-JP" dirty="0"/>
          </a:p>
          <a:p>
            <a:pPr lvl="1"/>
            <a:r>
              <a:rPr kumimoji="1" lang="ja-JP" altLang="en-US" dirty="0"/>
              <a:t>多言語対応</a:t>
            </a:r>
            <a:endParaRPr lang="en-US" altLang="ja-JP" dirty="0"/>
          </a:p>
          <a:p>
            <a:r>
              <a:rPr kumimoji="1" lang="ja-JP" altLang="en-US" dirty="0"/>
              <a:t>その他機能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ショートカットの作成</a:t>
            </a:r>
            <a:endParaRPr kumimoji="1" lang="en-US" altLang="ja-JP" dirty="0"/>
          </a:p>
          <a:p>
            <a:pPr lvl="1"/>
            <a:r>
              <a:rPr lang="ja-JP" altLang="en-US" dirty="0"/>
              <a:t>会員登録機能の実装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67214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</TotalTime>
  <Words>425</Words>
  <Application>Microsoft Office PowerPoint</Application>
  <PresentationFormat>ワイド画面</PresentationFormat>
  <Paragraphs>96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游ゴシック</vt:lpstr>
      <vt:lpstr>游ゴシック Light</vt:lpstr>
      <vt:lpstr>Arial</vt:lpstr>
      <vt:lpstr>Wingdings</vt:lpstr>
      <vt:lpstr>Office テーマ</vt:lpstr>
      <vt:lpstr>昔ながらの駄菓子屋</vt:lpstr>
      <vt:lpstr>動画の流れ</vt:lpstr>
      <vt:lpstr>駄菓子、食べたことありますか？</vt:lpstr>
      <vt:lpstr>駄菓子の需要</vt:lpstr>
      <vt:lpstr>駄菓子屋、行ったことありますか？</vt:lpstr>
      <vt:lpstr>駄菓子屋の現状</vt:lpstr>
      <vt:lpstr>レトロブームとは</vt:lpstr>
      <vt:lpstr>駄菓子屋の需要</vt:lpstr>
      <vt:lpstr>企画</vt:lpstr>
      <vt:lpstr>ターゲット</vt:lpstr>
      <vt:lpstr>イマーシブ性（没入感）</vt:lpstr>
      <vt:lpstr>企画概要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asuka okubo</dc:creator>
  <cp:lastModifiedBy>敷島宙</cp:lastModifiedBy>
  <cp:revision>32</cp:revision>
  <dcterms:created xsi:type="dcterms:W3CDTF">2024-08-26T04:19:31Z</dcterms:created>
  <dcterms:modified xsi:type="dcterms:W3CDTF">2024-09-06T16:59:53Z</dcterms:modified>
</cp:coreProperties>
</file>